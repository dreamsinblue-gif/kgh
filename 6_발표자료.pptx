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7" d="100"/>
          <a:sy n="77" d="100"/>
        </p:scale>
        <p:origin x="806" y="6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8FE0B0"/>
                </a:solidFill>
                <a:latin typeface="맑은 고딕"/>
              </a:rPr>
              <a:t>AX 탐험대 · 유통운영팀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43200"/>
            <a:ext cx="105156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FBFAF6"/>
                </a:solidFill>
                <a:latin typeface="맑은 고딕"/>
              </a:rPr>
              <a:t>운송 기록 입력 시스템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49039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F1EDE2"/>
                </a:solidFill>
                <a:latin typeface="맑은 고딕"/>
              </a:rPr>
              <a:t>서버 구축 없이 Firebase와 Google Apps Script만으로 구현한</a:t>
            </a:r>
          </a:p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F1EDE2"/>
                </a:solidFill>
                <a:latin typeface="맑은 고딕"/>
              </a:rPr>
              <a:t>배송 트래킹 자동화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12648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3C6E56"/>
                </a:solidFill>
                <a:latin typeface="맑은 고딕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D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3C6E56"/>
                </a:solidFill>
                <a:latin typeface="맑은 고딕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482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 dirty="0" err="1">
                <a:solidFill>
                  <a:srgbClr val="1F4D3A"/>
                </a:solidFill>
                <a:latin typeface="맑은 고딕"/>
              </a:rPr>
              <a:t>배경</a:t>
            </a:r>
            <a:endParaRPr sz="3000" b="1" i="0" dirty="0">
              <a:solidFill>
                <a:srgbClr val="1F4D3A"/>
              </a:solidFill>
              <a:latin typeface="맑은 고딕"/>
            </a:endParaRPr>
          </a:p>
        </p:txBody>
      </p:sp>
      <p:cxnSp>
        <p:nvCxnSpPr>
          <p:cNvPr id="5" name="Connector 4"/>
          <p:cNvCxnSpPr/>
          <p:nvPr/>
        </p:nvCxnSpPr>
        <p:spPr>
          <a:xfrm>
            <a:off x="640080" y="1508760"/>
            <a:ext cx="10881360" cy="0"/>
          </a:xfrm>
          <a:prstGeom prst="line">
            <a:avLst/>
          </a:prstGeom>
          <a:ln w="12700">
            <a:solidFill>
              <a:srgbClr val="D8D0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73952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8672"/>
                </a:solidFill>
                <a:latin typeface="맑은 고딕"/>
              </a:rPr>
              <a:t>운송 기록 입력 시스템 · AX 탐험대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73952"/>
            <a:ext cx="548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A8672"/>
                </a:solidFill>
                <a:latin typeface="맑은 고딕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2514600" cy="3931920"/>
          </a:xfrm>
          <a:prstGeom prst="roundRect">
            <a:avLst>
              <a:gd name="adj" fmla="val 6000"/>
            </a:avLst>
          </a:prstGeom>
          <a:solidFill>
            <a:srgbClr val="FBFAF6"/>
          </a:solidFill>
          <a:ln w="15875">
            <a:solidFill>
              <a:srgbClr val="D8D0B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1975104"/>
            <a:ext cx="211226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C97A2B"/>
                </a:solidFill>
                <a:latin typeface="맑은 고딕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249424"/>
            <a:ext cx="21122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F4D3A"/>
                </a:solidFill>
                <a:latin typeface="맑은 고딕"/>
              </a:rPr>
              <a:t>문제 인식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2615184"/>
            <a:ext cx="2112264" cy="3008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2261F"/>
                </a:solidFill>
                <a:latin typeface="맑은 고딕"/>
              </a:rPr>
              <a:t>운송기사가 지점별 운송시작·운송완료 시각을 수기/구두로 관리 → 관리자가 실시간 현황을 파악하기 어렵고, 데이터가 축적되지 않음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29000" y="1828800"/>
            <a:ext cx="2514600" cy="3931920"/>
          </a:xfrm>
          <a:prstGeom prst="roundRect">
            <a:avLst>
              <a:gd name="adj" fmla="val 6000"/>
            </a:avLst>
          </a:prstGeom>
          <a:solidFill>
            <a:srgbClr val="FBFAF6"/>
          </a:solidFill>
          <a:ln w="15875">
            <a:solidFill>
              <a:srgbClr val="D8D0B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30168" y="1975104"/>
            <a:ext cx="211226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C97A2B"/>
                </a:solidFill>
                <a:latin typeface="맑은 고딕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30168" y="2249424"/>
            <a:ext cx="21122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F4D3A"/>
                </a:solidFill>
                <a:latin typeface="맑은 고딕"/>
              </a:rPr>
              <a:t>제약 조건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30168" y="2615184"/>
            <a:ext cx="2112264" cy="3008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2261F"/>
                </a:solidFill>
                <a:latin typeface="맑은 고딕"/>
              </a:rPr>
              <a:t>별도 서버를 새로 구축·운영할 인력·예산 없이, 짧은 기간 안에 실제로 쓸 수 있는 도구가 필요했음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1828800"/>
            <a:ext cx="2514600" cy="3931920"/>
          </a:xfrm>
          <a:prstGeom prst="roundRect">
            <a:avLst>
              <a:gd name="adj" fmla="val 6000"/>
            </a:avLst>
          </a:prstGeom>
          <a:solidFill>
            <a:srgbClr val="FBFAF6"/>
          </a:solidFill>
          <a:ln w="15875">
            <a:solidFill>
              <a:srgbClr val="D8D0B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19088" y="1975104"/>
            <a:ext cx="211226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C97A2B"/>
                </a:solidFill>
                <a:latin typeface="맑은 고딕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19088" y="2249424"/>
            <a:ext cx="21122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F4D3A"/>
                </a:solidFill>
                <a:latin typeface="맑은 고딕"/>
              </a:rPr>
              <a:t>선택한 접근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19088" y="2615184"/>
            <a:ext cx="2112264" cy="3008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2261F"/>
                </a:solidFill>
                <a:latin typeface="맑은 고딕"/>
              </a:rPr>
              <a:t>Firebase Firestore(실시간 DB)와 Google Apps Script(자동 백업)만으로 서버 없이 구현 — 도입 비용과 유지보수 부담을 최소화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06840" y="1828800"/>
            <a:ext cx="2514600" cy="3931920"/>
          </a:xfrm>
          <a:prstGeom prst="roundRect">
            <a:avLst>
              <a:gd name="adj" fmla="val 6000"/>
            </a:avLst>
          </a:prstGeom>
          <a:solidFill>
            <a:srgbClr val="FBFAF6"/>
          </a:solidFill>
          <a:ln w="15875">
            <a:solidFill>
              <a:srgbClr val="D8D0B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08008" y="1975104"/>
            <a:ext cx="211226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C97A2B"/>
                </a:solidFill>
                <a:latin typeface="맑은 고딕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08008" y="2249424"/>
            <a:ext cx="21122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F4D3A"/>
                </a:solidFill>
                <a:latin typeface="맑은 고딕"/>
              </a:rPr>
              <a:t>과제 적합성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08008" y="2615184"/>
            <a:ext cx="2112264" cy="3008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2261F"/>
                </a:solidFill>
                <a:latin typeface="맑은 고딕"/>
              </a:rPr>
              <a:t>AX 탐험대 취지에 맞게, 코드 대부분을 AI(Claude Code)와 함께 작성하고 실제 배포·검증까지 진행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rgbClr val="F1ED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3C6E56"/>
                </a:solidFill>
                <a:latin typeface="맑은 고딕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5320" y="814503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F4D3A"/>
                </a:solidFill>
                <a:latin typeface="맑은 고딕"/>
              </a:rPr>
              <a:t>시스템 구성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508760"/>
            <a:ext cx="10881360" cy="0"/>
          </a:xfrm>
          <a:prstGeom prst="line">
            <a:avLst/>
          </a:prstGeom>
          <a:ln w="12700">
            <a:solidFill>
              <a:srgbClr val="D8D0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40080" y="1920240"/>
            <a:ext cx="2834640" cy="457200"/>
          </a:xfrm>
          <a:prstGeom prst="roundRect">
            <a:avLst>
              <a:gd name="adj" fmla="val 12000"/>
            </a:avLst>
          </a:prstGeom>
          <a:solidFill>
            <a:srgbClr val="FBFAF6"/>
          </a:solidFill>
          <a:ln w="15875">
            <a:solidFill>
              <a:srgbClr val="D8D0B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rIns="76200" rtlCol="0" anchor="ctr"/>
          <a:lstStyle/>
          <a:p>
            <a:pPr algn="ctr"/>
            <a:r>
              <a:rPr sz="1300" b="1">
                <a:solidFill>
                  <a:srgbClr val="1F4D3A"/>
                </a:solidFill>
                <a:latin typeface="맑은 고딕"/>
              </a:rPr>
              <a:t>기사 앱
(index.html)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0" y="1920240"/>
            <a:ext cx="2834640" cy="457200"/>
          </a:xfrm>
          <a:prstGeom prst="roundRect">
            <a:avLst>
              <a:gd name="adj" fmla="val 12000"/>
            </a:avLst>
          </a:prstGeom>
          <a:solidFill>
            <a:srgbClr val="FBFAF6"/>
          </a:solidFill>
          <a:ln w="15875">
            <a:solidFill>
              <a:srgbClr val="D8D0B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rIns="76200" rtlCol="0" anchor="ctr"/>
          <a:lstStyle/>
          <a:p>
            <a:pPr algn="ctr"/>
            <a:r>
              <a:rPr sz="1300" b="1">
                <a:solidFill>
                  <a:srgbClr val="1F4D3A"/>
                </a:solidFill>
                <a:latin typeface="맑은 고딕"/>
              </a:rPr>
              <a:t>관리자 앱
(admin.html)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2087224"/>
            <a:ext cx="3566160" cy="640077"/>
          </a:xfrm>
          <a:prstGeom prst="roundRect">
            <a:avLst>
              <a:gd name="adj" fmla="val 12000"/>
            </a:avLst>
          </a:prstGeom>
          <a:solidFill>
            <a:srgbClr val="1F4D3A"/>
          </a:solidFill>
          <a:ln w="15875">
            <a:solidFill>
              <a:srgbClr val="D8D0B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rIns="76200" rtlCol="0" anchor="ctr"/>
          <a:lstStyle/>
          <a:p>
            <a:pPr algn="ctr"/>
            <a:r>
              <a:rPr sz="1500" b="1">
                <a:solidFill>
                  <a:srgbClr val="FBFAF6"/>
                </a:solidFill>
                <a:latin typeface="맑은 고딕"/>
              </a:rPr>
              <a:t>Firestore
(실시간 데이터베이스)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3053303"/>
            <a:ext cx="1554480" cy="640077"/>
          </a:xfrm>
          <a:prstGeom prst="roundRect">
            <a:avLst>
              <a:gd name="adj" fmla="val 12000"/>
            </a:avLst>
          </a:prstGeom>
          <a:solidFill>
            <a:srgbClr val="E7E1D0"/>
          </a:solidFill>
          <a:ln w="15875">
            <a:solidFill>
              <a:srgbClr val="D8D0B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rIns="76200" rtlCol="0" anchor="ctr"/>
          <a:lstStyle/>
          <a:p>
            <a:pPr algn="ctr"/>
            <a:r>
              <a:rPr sz="1200" b="1" dirty="0">
                <a:solidFill>
                  <a:srgbClr val="22261F"/>
                </a:solidFill>
                <a:latin typeface="맑은 고딕"/>
              </a:rPr>
              <a:t>Apps Script
(5분 </a:t>
            </a:r>
            <a:r>
              <a:rPr sz="1200" b="1" dirty="0" err="1">
                <a:solidFill>
                  <a:srgbClr val="22261F"/>
                </a:solidFill>
                <a:latin typeface="맑은 고딕"/>
              </a:rPr>
              <a:t>주기</a:t>
            </a:r>
            <a:r>
              <a:rPr sz="1200" b="1" dirty="0">
                <a:solidFill>
                  <a:srgbClr val="22261F"/>
                </a:solidFill>
                <a:latin typeface="맑은 고딕"/>
              </a:rPr>
              <a:t>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3070192"/>
            <a:ext cx="1554480" cy="640077"/>
          </a:xfrm>
          <a:prstGeom prst="roundRect">
            <a:avLst>
              <a:gd name="adj" fmla="val 12000"/>
            </a:avLst>
          </a:prstGeom>
          <a:solidFill>
            <a:srgbClr val="E7E1D0"/>
          </a:solidFill>
          <a:ln w="15875">
            <a:solidFill>
              <a:srgbClr val="D8D0B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rIns="76200" rtlCol="0" anchor="ctr"/>
          <a:lstStyle/>
          <a:p>
            <a:pPr algn="ctr"/>
            <a:r>
              <a:rPr sz="1200" b="1">
                <a:solidFill>
                  <a:srgbClr val="22261F"/>
                </a:solidFill>
                <a:latin typeface="맑은 고딕"/>
              </a:rPr>
              <a:t>Google
스프레드시트</a:t>
            </a:r>
          </a:p>
        </p:txBody>
      </p:sp>
      <p:cxnSp>
        <p:nvCxnSpPr>
          <p:cNvPr id="11" name="Connector 10"/>
          <p:cNvCxnSpPr>
            <a:cxnSpLocks/>
            <a:stCxn id="6" idx="3"/>
            <a:endCxn id="8" idx="1"/>
          </p:cNvCxnSpPr>
          <p:nvPr/>
        </p:nvCxnSpPr>
        <p:spPr>
          <a:xfrm>
            <a:off x="3474720" y="2148840"/>
            <a:ext cx="822960" cy="258423"/>
          </a:xfrm>
          <a:prstGeom prst="bentConnector3">
            <a:avLst>
              <a:gd name="adj1" fmla="val 50000"/>
            </a:avLst>
          </a:prstGeom>
          <a:ln w="25400">
            <a:solidFill>
              <a:srgbClr val="3C6E5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>
            <a:cxnSpLocks/>
            <a:stCxn id="7" idx="1"/>
            <a:endCxn id="8" idx="3"/>
          </p:cNvCxnSpPr>
          <p:nvPr/>
        </p:nvCxnSpPr>
        <p:spPr>
          <a:xfrm rot="10800000" flipV="1">
            <a:off x="7863840" y="2148839"/>
            <a:ext cx="822960" cy="258423"/>
          </a:xfrm>
          <a:prstGeom prst="bentConnector3">
            <a:avLst>
              <a:gd name="adj1" fmla="val 50000"/>
            </a:avLst>
          </a:prstGeom>
          <a:ln w="25400">
            <a:solidFill>
              <a:srgbClr val="3C6E5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>
            <a:cxnSpLocks/>
            <a:stCxn id="9" idx="0"/>
            <a:endCxn id="8" idx="2"/>
          </p:cNvCxnSpPr>
          <p:nvPr/>
        </p:nvCxnSpPr>
        <p:spPr>
          <a:xfrm rot="5400000" flipH="1" flipV="1">
            <a:off x="5414839" y="2387382"/>
            <a:ext cx="326002" cy="1005840"/>
          </a:xfrm>
          <a:prstGeom prst="bentConnector3">
            <a:avLst>
              <a:gd name="adj1" fmla="val 50000"/>
            </a:avLst>
          </a:prstGeom>
          <a:ln w="25400">
            <a:solidFill>
              <a:srgbClr val="3C6E56"/>
            </a:solidFill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40080" y="5889928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 dirty="0" err="1">
                <a:solidFill>
                  <a:srgbClr val="8A8672"/>
                </a:solidFill>
                <a:latin typeface="맑은 고딕"/>
              </a:rPr>
              <a:t>별도</a:t>
            </a:r>
            <a:r>
              <a:rPr sz="1400" b="0" i="1" dirty="0">
                <a:solidFill>
                  <a:srgbClr val="8A8672"/>
                </a:solidFill>
                <a:latin typeface="맑은 고딕"/>
              </a:rPr>
              <a:t> </a:t>
            </a:r>
            <a:r>
              <a:rPr sz="1400" b="0" i="1" dirty="0" err="1">
                <a:solidFill>
                  <a:srgbClr val="8A8672"/>
                </a:solidFill>
                <a:latin typeface="맑은 고딕"/>
              </a:rPr>
              <a:t>서버</a:t>
            </a:r>
            <a:r>
              <a:rPr sz="1400" b="0" i="1" dirty="0">
                <a:solidFill>
                  <a:srgbClr val="8A8672"/>
                </a:solidFill>
                <a:latin typeface="맑은 고딕"/>
              </a:rPr>
              <a:t> </a:t>
            </a:r>
            <a:r>
              <a:rPr sz="1400" b="0" i="1" dirty="0" err="1">
                <a:solidFill>
                  <a:srgbClr val="8A8672"/>
                </a:solidFill>
                <a:latin typeface="맑은 고딕"/>
              </a:rPr>
              <a:t>없이</a:t>
            </a:r>
            <a:r>
              <a:rPr sz="1400" b="0" i="1" dirty="0">
                <a:solidFill>
                  <a:srgbClr val="8A8672"/>
                </a:solidFill>
                <a:latin typeface="맑은 고딕"/>
              </a:rPr>
              <a:t> </a:t>
            </a:r>
            <a:r>
              <a:rPr sz="1400" b="0" i="1" dirty="0" err="1">
                <a:solidFill>
                  <a:srgbClr val="8A8672"/>
                </a:solidFill>
                <a:latin typeface="맑은 고딕"/>
              </a:rPr>
              <a:t>Firestore</a:t>
            </a:r>
            <a:r>
              <a:rPr sz="1400" b="0" i="1" dirty="0">
                <a:solidFill>
                  <a:srgbClr val="8A8672"/>
                </a:solidFill>
                <a:latin typeface="맑은 고딕"/>
              </a:rPr>
              <a:t>(</a:t>
            </a:r>
            <a:r>
              <a:rPr sz="1400" b="0" i="1" dirty="0" err="1">
                <a:solidFill>
                  <a:srgbClr val="8A8672"/>
                </a:solidFill>
                <a:latin typeface="맑은 고딕"/>
              </a:rPr>
              <a:t>실시간</a:t>
            </a:r>
            <a:r>
              <a:rPr sz="1400" b="0" i="1" dirty="0">
                <a:solidFill>
                  <a:srgbClr val="8A8672"/>
                </a:solidFill>
                <a:latin typeface="맑은 고딕"/>
              </a:rPr>
              <a:t> </a:t>
            </a:r>
            <a:r>
              <a:rPr sz="1400" b="0" i="1" dirty="0" err="1">
                <a:solidFill>
                  <a:srgbClr val="8A8672"/>
                </a:solidFill>
                <a:latin typeface="맑은 고딕"/>
              </a:rPr>
              <a:t>동기화</a:t>
            </a:r>
            <a:r>
              <a:rPr sz="1400" b="0" i="1" dirty="0">
                <a:solidFill>
                  <a:srgbClr val="8A8672"/>
                </a:solidFill>
                <a:latin typeface="맑은 고딕"/>
              </a:rPr>
              <a:t>) + Apps Script(</a:t>
            </a:r>
            <a:r>
              <a:rPr sz="1400" b="0" i="1" dirty="0" err="1">
                <a:solidFill>
                  <a:srgbClr val="8A8672"/>
                </a:solidFill>
                <a:latin typeface="맑은 고딕"/>
              </a:rPr>
              <a:t>자동</a:t>
            </a:r>
            <a:r>
              <a:rPr sz="1400" b="0" i="1" dirty="0">
                <a:solidFill>
                  <a:srgbClr val="8A8672"/>
                </a:solidFill>
                <a:latin typeface="맑은 고딕"/>
              </a:rPr>
              <a:t> </a:t>
            </a:r>
            <a:r>
              <a:rPr sz="1400" b="0" i="1" dirty="0" err="1">
                <a:solidFill>
                  <a:srgbClr val="8A8672"/>
                </a:solidFill>
                <a:latin typeface="맑은 고딕"/>
              </a:rPr>
              <a:t>백업</a:t>
            </a:r>
            <a:r>
              <a:rPr sz="1400" b="0" i="1" dirty="0">
                <a:solidFill>
                  <a:srgbClr val="8A8672"/>
                </a:solidFill>
                <a:latin typeface="맑은 고딕"/>
              </a:rPr>
              <a:t>)</a:t>
            </a:r>
            <a:r>
              <a:rPr sz="1400" b="0" i="1" dirty="0" err="1">
                <a:solidFill>
                  <a:srgbClr val="8A8672"/>
                </a:solidFill>
                <a:latin typeface="맑은 고딕"/>
              </a:rPr>
              <a:t>만으로</a:t>
            </a:r>
            <a:r>
              <a:rPr sz="1400" b="0" i="1" dirty="0">
                <a:solidFill>
                  <a:srgbClr val="8A8672"/>
                </a:solidFill>
                <a:latin typeface="맑은 고딕"/>
              </a:rPr>
              <a:t> </a:t>
            </a:r>
            <a:r>
              <a:rPr sz="1400" b="0" i="1" dirty="0" err="1">
                <a:solidFill>
                  <a:srgbClr val="8A8672"/>
                </a:solidFill>
                <a:latin typeface="맑은 고딕"/>
              </a:rPr>
              <a:t>구성된</a:t>
            </a:r>
            <a:r>
              <a:rPr sz="1400" b="0" i="1" dirty="0">
                <a:solidFill>
                  <a:srgbClr val="8A8672"/>
                </a:solidFill>
                <a:latin typeface="맑은 고딕"/>
              </a:rPr>
              <a:t> </a:t>
            </a:r>
            <a:r>
              <a:rPr sz="1400" b="0" i="1" dirty="0" err="1">
                <a:solidFill>
                  <a:srgbClr val="8A8672"/>
                </a:solidFill>
                <a:latin typeface="맑은 고딕"/>
              </a:rPr>
              <a:t>완전</a:t>
            </a:r>
            <a:r>
              <a:rPr sz="1400" b="0" i="1" dirty="0">
                <a:solidFill>
                  <a:srgbClr val="8A8672"/>
                </a:solidFill>
                <a:latin typeface="맑은 고딕"/>
              </a:rPr>
              <a:t> </a:t>
            </a:r>
            <a:r>
              <a:rPr sz="1400" b="0" i="1" dirty="0" err="1">
                <a:solidFill>
                  <a:srgbClr val="8A8672"/>
                </a:solidFill>
                <a:latin typeface="맑은 고딕"/>
              </a:rPr>
              <a:t>서버리스</a:t>
            </a:r>
            <a:r>
              <a:rPr sz="1400" b="0" i="1" dirty="0">
                <a:solidFill>
                  <a:srgbClr val="8A8672"/>
                </a:solidFill>
                <a:latin typeface="맑은 고딕"/>
              </a:rPr>
              <a:t> </a:t>
            </a:r>
            <a:r>
              <a:rPr sz="1400" b="0" i="1" dirty="0" err="1">
                <a:solidFill>
                  <a:srgbClr val="8A8672"/>
                </a:solidFill>
                <a:latin typeface="맑은 고딕"/>
              </a:rPr>
              <a:t>구조</a:t>
            </a:r>
            <a:endParaRPr sz="1400" b="0" i="1" dirty="0">
              <a:solidFill>
                <a:srgbClr val="8A8672"/>
              </a:solidFill>
              <a:latin typeface="맑은 고딕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48640" y="6473952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8672"/>
                </a:solidFill>
                <a:latin typeface="맑은 고딕"/>
              </a:rPr>
              <a:t>운송 기록 입력 시스템 · AX 탐험대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0" y="6473952"/>
            <a:ext cx="548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A8672"/>
                </a:solidFill>
                <a:latin typeface="맑은 고딕"/>
              </a:rPr>
              <a:t>3</a:t>
            </a: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32AF2495-DA72-1092-8E96-16C25CFF76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2514600"/>
            <a:ext cx="2971800" cy="2971800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A8E45E80-D9B5-2DCE-55A0-819CF9F9A3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0867" y="2514600"/>
            <a:ext cx="2831993" cy="2971800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429745A7-61FC-EDAF-F43F-731BE5BA46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80" y="3834011"/>
            <a:ext cx="3576517" cy="1652389"/>
          </a:xfrm>
          <a:prstGeom prst="rect">
            <a:avLst/>
          </a:prstGeom>
        </p:spPr>
      </p:pic>
      <p:cxnSp>
        <p:nvCxnSpPr>
          <p:cNvPr id="37" name="Connector 13">
            <a:extLst>
              <a:ext uri="{FF2B5EF4-FFF2-40B4-BE49-F238E27FC236}">
                <a16:creationId xmlns:a16="http://schemas.microsoft.com/office/drawing/2014/main" id="{CA56CDB5-9E93-6596-5912-8A067B78A842}"/>
              </a:ext>
            </a:extLst>
          </p:cNvPr>
          <p:cNvCxnSpPr>
            <a:cxnSpLocks/>
            <a:stCxn id="10" idx="0"/>
            <a:endCxn id="8" idx="2"/>
          </p:cNvCxnSpPr>
          <p:nvPr/>
        </p:nvCxnSpPr>
        <p:spPr>
          <a:xfrm rot="16200000" flipV="1">
            <a:off x="6412235" y="2395827"/>
            <a:ext cx="342891" cy="1005840"/>
          </a:xfrm>
          <a:prstGeom prst="bentConnector3">
            <a:avLst>
              <a:gd name="adj1" fmla="val 50000"/>
            </a:avLst>
          </a:prstGeom>
          <a:ln w="25400">
            <a:solidFill>
              <a:srgbClr val="3C6E56"/>
            </a:solidFill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D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3C6E56"/>
                </a:solidFill>
                <a:latin typeface="맑은 고딕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F4D3A"/>
                </a:solidFill>
                <a:latin typeface="맑은 고딕"/>
              </a:rPr>
              <a:t>주요 기능 — 기사 앱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508760"/>
            <a:ext cx="10881360" cy="0"/>
          </a:xfrm>
          <a:prstGeom prst="line">
            <a:avLst/>
          </a:prstGeom>
          <a:ln w="12700">
            <a:solidFill>
              <a:srgbClr val="D8D0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73952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8672"/>
                </a:solidFill>
                <a:latin typeface="맑은 고딕"/>
              </a:rPr>
              <a:t>운송 기록 입력 시스템 · AX 탐험대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73952"/>
            <a:ext cx="548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A8672"/>
                </a:solidFill>
                <a:latin typeface="맑은 고딕"/>
              </a:rPr>
              <a:t>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" y="1737360"/>
            <a:ext cx="2279904" cy="4306824"/>
          </a:xfrm>
          <a:prstGeom prst="roundRect">
            <a:avLst>
              <a:gd name="adj" fmla="val 6000"/>
            </a:avLst>
          </a:prstGeom>
          <a:solidFill>
            <a:srgbClr val="FBFAF6"/>
          </a:solidFill>
          <a:ln w="15875">
            <a:solidFill>
              <a:srgbClr val="D8D0B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810512"/>
            <a:ext cx="2133600" cy="416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2648" y="6099048"/>
            <a:ext cx="227990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8A8672"/>
                </a:solidFill>
                <a:latin typeface="맑은 고딕"/>
              </a:rPr>
              <a:t>기사 앱 실행 화면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22320" y="1810512"/>
            <a:ext cx="8199120" cy="749808"/>
          </a:xfrm>
          <a:prstGeom prst="roundRect">
            <a:avLst>
              <a:gd name="adj" fmla="val 6000"/>
            </a:avLst>
          </a:prstGeom>
          <a:solidFill>
            <a:srgbClr val="FBFAF6"/>
          </a:solidFill>
          <a:ln w="15875">
            <a:solidFill>
              <a:srgbClr val="D8D0B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3488" y="1901952"/>
            <a:ext cx="7796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F4D3A"/>
                </a:solidFill>
                <a:latin typeface="맑은 고딕"/>
              </a:rPr>
              <a:t>2단계 등록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3488" y="2194560"/>
            <a:ext cx="77967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2261F"/>
                </a:solidFill>
                <a:latin typeface="맑은 고딕"/>
              </a:rPr>
              <a:t>권역·지점 다중 선택 → 확인 화면 → 운송시작 일괄 등록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22320" y="2670048"/>
            <a:ext cx="8199120" cy="749808"/>
          </a:xfrm>
          <a:prstGeom prst="roundRect">
            <a:avLst>
              <a:gd name="adj" fmla="val 6000"/>
            </a:avLst>
          </a:prstGeom>
          <a:solidFill>
            <a:srgbClr val="FBFAF6"/>
          </a:solidFill>
          <a:ln w="15875">
            <a:solidFill>
              <a:srgbClr val="D8D0B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23488" y="2761488"/>
            <a:ext cx="7796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F4D3A"/>
                </a:solidFill>
                <a:latin typeface="맑은 고딕"/>
              </a:rPr>
              <a:t>중복 등록 방지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3488" y="3054096"/>
            <a:ext cx="77967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2261F"/>
                </a:solidFill>
                <a:latin typeface="맑은 고딕"/>
              </a:rPr>
              <a:t>오늘 이미 등록된 지점은 선택 화면에서 자동 비활성화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22320" y="3529584"/>
            <a:ext cx="8199120" cy="749808"/>
          </a:xfrm>
          <a:prstGeom prst="roundRect">
            <a:avLst>
              <a:gd name="adj" fmla="val 6000"/>
            </a:avLst>
          </a:prstGeom>
          <a:solidFill>
            <a:srgbClr val="FBFAF6"/>
          </a:solidFill>
          <a:ln w="15875">
            <a:solidFill>
              <a:srgbClr val="D8D0B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3488" y="3621024"/>
            <a:ext cx="7796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F4D3A"/>
                </a:solidFill>
                <a:latin typeface="맑은 고딕"/>
              </a:rPr>
              <a:t>운송완료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23488" y="3913632"/>
            <a:ext cx="77967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2261F"/>
                </a:solidFill>
                <a:latin typeface="맑은 고딕"/>
              </a:rPr>
              <a:t>확인창을 거쳐 처리, 완료 즉시 목록에서 사라짐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322320" y="4389120"/>
            <a:ext cx="8199120" cy="749808"/>
          </a:xfrm>
          <a:prstGeom prst="roundRect">
            <a:avLst>
              <a:gd name="adj" fmla="val 6000"/>
            </a:avLst>
          </a:prstGeom>
          <a:solidFill>
            <a:srgbClr val="FBFAF6"/>
          </a:solidFill>
          <a:ln w="15875">
            <a:solidFill>
              <a:srgbClr val="D8D0B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523488" y="4480560"/>
            <a:ext cx="7796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F4D3A"/>
                </a:solidFill>
                <a:latin typeface="맑은 고딕"/>
              </a:rPr>
              <a:t>지방 일괄 운송완료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23488" y="4773168"/>
            <a:ext cx="77967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2261F"/>
                </a:solidFill>
                <a:latin typeface="맑은 고딕"/>
              </a:rPr>
              <a:t>진행중 지방 지점이 2개 이상이면 한 번에 완료 처리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322320" y="5248656"/>
            <a:ext cx="8199120" cy="749808"/>
          </a:xfrm>
          <a:prstGeom prst="roundRect">
            <a:avLst>
              <a:gd name="adj" fmla="val 6000"/>
            </a:avLst>
          </a:prstGeom>
          <a:solidFill>
            <a:srgbClr val="FBFAF6"/>
          </a:solidFill>
          <a:ln w="15875">
            <a:solidFill>
              <a:srgbClr val="D8D0B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23488" y="5340096"/>
            <a:ext cx="7796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F4D3A"/>
                </a:solidFill>
                <a:latin typeface="맑은 고딕"/>
              </a:rPr>
              <a:t>테스트 모드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23488" y="5632704"/>
            <a:ext cx="77967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2261F"/>
                </a:solidFill>
                <a:latin typeface="맑은 고딕"/>
              </a:rPr>
              <a:t>?test=1 — 실제 데이터에 영향 없이 안전하게 미리 체험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D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3C6E56"/>
                </a:solidFill>
                <a:latin typeface="맑은 고딕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F4D3A"/>
                </a:solidFill>
                <a:latin typeface="맑은 고딕"/>
              </a:rPr>
              <a:t>주요 기능 — 관리자 앱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508760"/>
            <a:ext cx="10881360" cy="0"/>
          </a:xfrm>
          <a:prstGeom prst="line">
            <a:avLst/>
          </a:prstGeom>
          <a:ln w="12700">
            <a:solidFill>
              <a:srgbClr val="D8D0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73952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8672"/>
                </a:solidFill>
                <a:latin typeface="맑은 고딕"/>
              </a:rPr>
              <a:t>운송 기록 입력 시스템 · AX 탐험대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73952"/>
            <a:ext cx="548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A8672"/>
                </a:solidFill>
                <a:latin typeface="맑은 고딕"/>
              </a:rP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" y="1737360"/>
            <a:ext cx="4255459" cy="4306824"/>
          </a:xfrm>
          <a:prstGeom prst="roundRect">
            <a:avLst>
              <a:gd name="adj" fmla="val 6000"/>
            </a:avLst>
          </a:prstGeom>
          <a:solidFill>
            <a:srgbClr val="FBFAF6"/>
          </a:solidFill>
          <a:ln w="15875">
            <a:solidFill>
              <a:srgbClr val="D8D0B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810512"/>
            <a:ext cx="4109156" cy="416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2648" y="6099048"/>
            <a:ext cx="42554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8A8672"/>
                </a:solidFill>
                <a:latin typeface="맑은 고딕"/>
              </a:rPr>
              <a:t>관리자 앱 실행 화면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97875" y="1810512"/>
            <a:ext cx="6223565" cy="932688"/>
          </a:xfrm>
          <a:prstGeom prst="roundRect">
            <a:avLst>
              <a:gd name="adj" fmla="val 6000"/>
            </a:avLst>
          </a:prstGeom>
          <a:solidFill>
            <a:srgbClr val="FBFAF6"/>
          </a:solidFill>
          <a:ln w="15875">
            <a:solidFill>
              <a:srgbClr val="D8D0B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99043" y="1929384"/>
            <a:ext cx="582122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F4D3A"/>
                </a:solidFill>
                <a:latin typeface="맑은 고딕"/>
              </a:rPr>
              <a:t>실시간 대시보드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99043" y="2267712"/>
            <a:ext cx="582122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2261F"/>
                </a:solidFill>
                <a:latin typeface="맑은 고딕"/>
              </a:rPr>
              <a:t>36개 지점을 대기/운송중/완료 3색으로 실시간 표시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97875" y="2880360"/>
            <a:ext cx="6223565" cy="932688"/>
          </a:xfrm>
          <a:prstGeom prst="roundRect">
            <a:avLst>
              <a:gd name="adj" fmla="val 6000"/>
            </a:avLst>
          </a:prstGeom>
          <a:solidFill>
            <a:srgbClr val="FBFAF6"/>
          </a:solidFill>
          <a:ln w="15875">
            <a:solidFill>
              <a:srgbClr val="D8D0B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99043" y="2999232"/>
            <a:ext cx="582122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F4D3A"/>
                </a:solidFill>
                <a:latin typeface="맑은 고딕"/>
              </a:rPr>
              <a:t>지연 판정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99043" y="3337560"/>
            <a:ext cx="582122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2261F"/>
                </a:solidFill>
                <a:latin typeface="맑은 고딕"/>
              </a:rPr>
              <a:t>평균 대비 경과시간 15분 이상 초과 시 '지연' 배지 표시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297875" y="3950208"/>
            <a:ext cx="6223565" cy="932688"/>
          </a:xfrm>
          <a:prstGeom prst="roundRect">
            <a:avLst>
              <a:gd name="adj" fmla="val 6000"/>
            </a:avLst>
          </a:prstGeom>
          <a:solidFill>
            <a:srgbClr val="FBFAF6"/>
          </a:solidFill>
          <a:ln w="15875">
            <a:solidFill>
              <a:srgbClr val="D8D0B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99043" y="4069080"/>
            <a:ext cx="582122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F4D3A"/>
                </a:solidFill>
                <a:latin typeface="맑은 고딕"/>
              </a:rPr>
              <a:t>소요시간 통계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99043" y="4407408"/>
            <a:ext cx="582122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2261F"/>
                </a:solidFill>
                <a:latin typeface="맑은 고딕"/>
              </a:rPr>
              <a:t>최근 30일 중 조회일 선택, 월평균 대비 증감 비교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297875" y="5020056"/>
            <a:ext cx="6223565" cy="932688"/>
          </a:xfrm>
          <a:prstGeom prst="roundRect">
            <a:avLst>
              <a:gd name="adj" fmla="val 6000"/>
            </a:avLst>
          </a:prstGeom>
          <a:solidFill>
            <a:srgbClr val="FBFAF6"/>
          </a:solidFill>
          <a:ln w="15875">
            <a:solidFill>
              <a:srgbClr val="D8D0B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99043" y="5138928"/>
            <a:ext cx="582122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F4D3A"/>
                </a:solidFill>
                <a:latin typeface="맑은 고딕"/>
              </a:rPr>
              <a:t>접근 제한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99043" y="5477256"/>
            <a:ext cx="582122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2261F"/>
                </a:solidFill>
                <a:latin typeface="맑은 고딕"/>
              </a:rPr>
              <a:t>이메일/비밀번호 로그인 필요, 로그인 계정만 전체 기간 조회 가능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D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3C6E56"/>
                </a:solidFill>
                <a:latin typeface="맑은 고딕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F4D3A"/>
                </a:solidFill>
                <a:latin typeface="맑은 고딕"/>
              </a:rPr>
              <a:t>개발 과정에서의 특이사항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508760"/>
            <a:ext cx="10881360" cy="0"/>
          </a:xfrm>
          <a:prstGeom prst="line">
            <a:avLst/>
          </a:prstGeom>
          <a:ln w="12700">
            <a:solidFill>
              <a:srgbClr val="D8D0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73952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8672"/>
                </a:solidFill>
                <a:latin typeface="맑은 고딕"/>
              </a:rPr>
              <a:t>운송 기록 입력 시스템 · AX 탐험대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73952"/>
            <a:ext cx="548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A8672"/>
                </a:solidFill>
                <a:latin typeface="맑은 고딕"/>
              </a:rPr>
              <a:t>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3447288" cy="1874519"/>
          </a:xfrm>
          <a:prstGeom prst="roundRect">
            <a:avLst>
              <a:gd name="adj" fmla="val 6000"/>
            </a:avLst>
          </a:prstGeom>
          <a:solidFill>
            <a:srgbClr val="FBFAF6"/>
          </a:solidFill>
          <a:ln w="15875">
            <a:solidFill>
              <a:srgbClr val="D8D0B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1975104"/>
            <a:ext cx="30449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F4D3A"/>
                </a:solidFill>
                <a:latin typeface="맑은 고딕"/>
              </a:rPr>
              <a:t>배포 후에만 드러난 보안 규칙 버그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340864"/>
            <a:ext cx="3044952" cy="12252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2261F"/>
                </a:solidFill>
                <a:latin typeface="맑은 고딕"/>
              </a:rPr>
              <a:t>Firestore 규칙은 컴파일 성공과 실제 동작이 다를 수 있음 — 존재하지 않는 인증 클레임 비교, UTC 전용 날짜 함수 등 라이브 테스트에서만 발견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61688" y="1828800"/>
            <a:ext cx="3447288" cy="1874519"/>
          </a:xfrm>
          <a:prstGeom prst="roundRect">
            <a:avLst>
              <a:gd name="adj" fmla="val 6000"/>
            </a:avLst>
          </a:prstGeom>
          <a:solidFill>
            <a:srgbClr val="FBFAF6"/>
          </a:solidFill>
          <a:ln w="15875">
            <a:solidFill>
              <a:srgbClr val="D8D0B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62856" y="1975104"/>
            <a:ext cx="30449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F4D3A"/>
                </a:solidFill>
                <a:latin typeface="맑은 고딕"/>
              </a:rPr>
              <a:t>동시 사용 시나리오 반영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62856" y="2340864"/>
            <a:ext cx="3044952" cy="12252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2261F"/>
                </a:solidFill>
                <a:latin typeface="맑은 고딕"/>
              </a:rPr>
              <a:t>여러 기사가 동시에 앱을 쓰는 조건을 반영해 지점 선택 화면에 중복 등록 방지 로직 추가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83296" y="1828800"/>
            <a:ext cx="3447288" cy="1874519"/>
          </a:xfrm>
          <a:prstGeom prst="roundRect">
            <a:avLst>
              <a:gd name="adj" fmla="val 6000"/>
            </a:avLst>
          </a:prstGeom>
          <a:solidFill>
            <a:srgbClr val="FBFAF6"/>
          </a:solidFill>
          <a:ln w="15875">
            <a:solidFill>
              <a:srgbClr val="D8D0B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84464" y="1975104"/>
            <a:ext cx="30449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F4D3A"/>
                </a:solidFill>
                <a:latin typeface="맑은 고딕"/>
              </a:rPr>
              <a:t>현장 물류 특성 반영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4464" y="2340864"/>
            <a:ext cx="3044952" cy="12252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2261F"/>
                </a:solidFill>
                <a:latin typeface="맑은 고딕"/>
              </a:rPr>
              <a:t>지방 지점은 '중간 허브 도착' 기준임을 확인하고, 일괄 등록·일괄 완료 기능으로 구현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496312" y="3886199"/>
            <a:ext cx="3447288" cy="1874519"/>
          </a:xfrm>
          <a:prstGeom prst="roundRect">
            <a:avLst>
              <a:gd name="adj" fmla="val 6000"/>
            </a:avLst>
          </a:prstGeom>
          <a:solidFill>
            <a:srgbClr val="FBFAF6"/>
          </a:solidFill>
          <a:ln w="15875">
            <a:solidFill>
              <a:srgbClr val="D8D0B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97480" y="4032503"/>
            <a:ext cx="30449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F4D3A"/>
                </a:solidFill>
                <a:latin typeface="맑은 고딕"/>
              </a:rPr>
              <a:t>운영 정책 조정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97480" y="4398263"/>
            <a:ext cx="3044952" cy="12252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2261F"/>
                </a:solidFill>
                <a:latin typeface="맑은 고딕"/>
              </a:rPr>
              <a:t>완료 취소(초기화) 기능 대신 완료 시 확인창을 강화 — 신뢰성과 편의성의 트레이드오프를 논의 후 결정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886199"/>
            <a:ext cx="3447288" cy="1874519"/>
          </a:xfrm>
          <a:prstGeom prst="roundRect">
            <a:avLst>
              <a:gd name="adj" fmla="val 6000"/>
            </a:avLst>
          </a:prstGeom>
          <a:solidFill>
            <a:srgbClr val="FBFAF6"/>
          </a:solidFill>
          <a:ln w="15875">
            <a:solidFill>
              <a:srgbClr val="D8D0B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19088" y="4032503"/>
            <a:ext cx="30449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F4D3A"/>
                </a:solidFill>
                <a:latin typeface="맑은 고딕"/>
              </a:rPr>
              <a:t>실서비스에 안전한 개발 환경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9088" y="4398263"/>
            <a:ext cx="3044952" cy="12252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2261F"/>
                </a:solidFill>
                <a:latin typeface="맑은 고딕"/>
              </a:rPr>
              <a:t>테스트 모드·격리된 테스트 데이터·자동 정리 절차로, 라이브 데이터 위험 없이 기능을 검증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D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3C6E56"/>
                </a:solidFill>
                <a:latin typeface="맑은 고딕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F4D3A"/>
                </a:solidFill>
                <a:latin typeface="맑은 고딕"/>
              </a:rPr>
              <a:t>현재 상태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508760"/>
            <a:ext cx="10881360" cy="0"/>
          </a:xfrm>
          <a:prstGeom prst="line">
            <a:avLst/>
          </a:prstGeom>
          <a:ln w="12700">
            <a:solidFill>
              <a:srgbClr val="D8D0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6492240" y="1874519"/>
            <a:ext cx="5029200" cy="3931920"/>
          </a:xfrm>
          <a:prstGeom prst="roundRect">
            <a:avLst>
              <a:gd name="adj" fmla="val 12000"/>
            </a:avLst>
          </a:prstGeom>
          <a:solidFill>
            <a:srgbClr val="FBFAF6"/>
          </a:solidFill>
          <a:ln w="15875">
            <a:solidFill>
              <a:srgbClr val="D8D0B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rIns="76200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48640" y="6473952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8672"/>
                </a:solidFill>
                <a:latin typeface="맑은 고딕"/>
              </a:rPr>
              <a:t>운송 기록 입력 시스템 · AX 탐험대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473952"/>
            <a:ext cx="548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A8672"/>
                </a:solidFill>
                <a:latin typeface="맑은 고딕"/>
              </a:rPr>
              <a:t>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60" y="202996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3C6E56"/>
                </a:solidFill>
                <a:latin typeface="맑은 고딕"/>
              </a:rPr>
              <a:t>배포 URL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0" y="2395728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8A8672"/>
                </a:solidFill>
                <a:latin typeface="맑은 고딕"/>
              </a:rPr>
              <a:t>기사 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0" y="2651760"/>
            <a:ext cx="4572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22261F"/>
                </a:solidFill>
                <a:latin typeface="맑은 고딕"/>
              </a:rPr>
              <a:t>.../driver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0" y="299923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8A8672"/>
                </a:solidFill>
                <a:latin typeface="맑은 고딕"/>
              </a:rPr>
              <a:t>관리자 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0" y="3255264"/>
            <a:ext cx="4572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22261F"/>
                </a:solidFill>
                <a:latin typeface="맑은 고딕"/>
              </a:rPr>
              <a:t>.../admin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0" y="360273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8A8672"/>
                </a:solidFill>
                <a:latin typeface="맑은 고딕"/>
              </a:rPr>
              <a:t>구글 스프레드시트 (자동 백업)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3858768"/>
            <a:ext cx="4572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22261F"/>
                </a:solidFill>
                <a:latin typeface="맑은 고딕"/>
              </a:rPr>
              <a:t>.../spreadsheets/d/1wUtlIpiU9e…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66560" y="4279392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3C6E56"/>
                </a:solidFill>
                <a:latin typeface="맑은 고딕"/>
              </a:rPr>
              <a:t>적용범위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6560" y="4626864"/>
            <a:ext cx="4572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22261F"/>
                </a:solidFill>
                <a:latin typeface="맑은 고딕"/>
              </a:rPr>
              <a:t>배송망 36개 지점 (수도권 24 · 지방 12)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22261F"/>
                </a:solidFill>
                <a:latin typeface="맑은 고딕"/>
              </a:rPr>
              <a:t>운송기사 전원 + 관리자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1828800"/>
            <a:ext cx="548640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50" b="1">
                <a:solidFill>
                  <a:srgbClr val="1F4D3A"/>
                </a:solidFill>
                <a:latin typeface="맑은 고딕"/>
              </a:rPr>
              <a:t>●  배포 완료</a:t>
            </a:r>
            <a:r>
              <a:rPr sz="1550">
                <a:solidFill>
                  <a:srgbClr val="22261F"/>
                </a:solidFill>
                <a:latin typeface="맑은 고딕"/>
              </a:rPr>
              <a:t>  —  Firebase Hosting에 실제 배포, 기사·관리자 앱 모두 라이브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50" b="1">
                <a:solidFill>
                  <a:srgbClr val="1F4D3A"/>
                </a:solidFill>
                <a:latin typeface="맑은 고딕"/>
              </a:rPr>
              <a:t>●  보안 규칙 배포·검증</a:t>
            </a:r>
            <a:r>
              <a:rPr sz="1550">
                <a:solidFill>
                  <a:srgbClr val="22261F"/>
                </a:solidFill>
                <a:latin typeface="맑은 고딕"/>
              </a:rPr>
              <a:t>  —  실제 계정으로 end-to-end 테스트 완료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50" b="1">
                <a:solidFill>
                  <a:srgbClr val="1F4D3A"/>
                </a:solidFill>
                <a:latin typeface="맑은 고딕"/>
              </a:rPr>
              <a:t>●  자동 백업 검증</a:t>
            </a:r>
            <a:r>
              <a:rPr sz="1550">
                <a:solidFill>
                  <a:srgbClr val="22261F"/>
                </a:solidFill>
                <a:latin typeface="맑은 고딕"/>
              </a:rPr>
              <a:t>  —  5분 주기 스프레드시트 반영 실데이터로 확인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50" b="1">
                <a:solidFill>
                  <a:srgbClr val="1F4D3A"/>
                </a:solidFill>
                <a:latin typeface="맑은 고딕"/>
              </a:rPr>
              <a:t>●  형상관리</a:t>
            </a:r>
            <a:r>
              <a:rPr sz="1550">
                <a:solidFill>
                  <a:srgbClr val="22261F"/>
                </a:solidFill>
                <a:latin typeface="맑은 고딕"/>
              </a:rPr>
              <a:t>  —  GitHub 저장소 연동, 여러 컴퓨터에서 이어서 작업 가능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D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3C6E56"/>
                </a:solidFill>
                <a:latin typeface="맑은 고딕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F4D3A"/>
                </a:solidFill>
                <a:latin typeface="맑은 고딕"/>
              </a:rPr>
              <a:t>향후 확산 가능성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508760"/>
            <a:ext cx="10881360" cy="0"/>
          </a:xfrm>
          <a:prstGeom prst="line">
            <a:avLst/>
          </a:prstGeom>
          <a:ln w="12700">
            <a:solidFill>
              <a:srgbClr val="D8D0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73952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8672"/>
                </a:solidFill>
                <a:latin typeface="맑은 고딕"/>
              </a:rPr>
              <a:t>운송 기록 입력 시스템 · AX 탐험대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73952"/>
            <a:ext cx="548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A8672"/>
                </a:solidFill>
                <a:latin typeface="맑은 고딕"/>
              </a:rPr>
              <a:t>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3447288" cy="1874519"/>
          </a:xfrm>
          <a:prstGeom prst="roundRect">
            <a:avLst>
              <a:gd name="adj" fmla="val 6000"/>
            </a:avLst>
          </a:prstGeom>
          <a:solidFill>
            <a:srgbClr val="FBFAF6"/>
          </a:solidFill>
          <a:ln w="15875">
            <a:solidFill>
              <a:srgbClr val="D8D0B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1975104"/>
            <a:ext cx="30449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F4D3A"/>
                </a:solidFill>
                <a:latin typeface="맑은 고딕"/>
              </a:rPr>
              <a:t>다른 물류 프로세스로 확장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340864"/>
            <a:ext cx="3044952" cy="12252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2261F"/>
                </a:solidFill>
                <a:latin typeface="맑은 고딕"/>
              </a:rPr>
              <a:t>반품 처리, 재고 이동, 창고 간 이관 등 지점별 상태 변화를 실시간 추적해야 하는 업무 전반에 적용 가능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61688" y="1828800"/>
            <a:ext cx="3447288" cy="1874519"/>
          </a:xfrm>
          <a:prstGeom prst="roundRect">
            <a:avLst>
              <a:gd name="adj" fmla="val 6000"/>
            </a:avLst>
          </a:prstGeom>
          <a:solidFill>
            <a:srgbClr val="FBFAF6"/>
          </a:solidFill>
          <a:ln w="15875">
            <a:solidFill>
              <a:srgbClr val="D8D0B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62856" y="1975104"/>
            <a:ext cx="30449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F4D3A"/>
                </a:solidFill>
                <a:latin typeface="맑은 고딕"/>
              </a:rPr>
              <a:t>서버리스 패턴의 재사용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62856" y="2340864"/>
            <a:ext cx="3044952" cy="12252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2261F"/>
                </a:solidFill>
                <a:latin typeface="맑은 고딕"/>
              </a:rPr>
              <a:t>서버 구축 없이 Firebase + Apps Script로 구현하는 방식은 소규모 팀 업무 자동화에 낮은 비용으로 재사용 가능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83296" y="1828800"/>
            <a:ext cx="3447288" cy="1874519"/>
          </a:xfrm>
          <a:prstGeom prst="roundRect">
            <a:avLst>
              <a:gd name="adj" fmla="val 6000"/>
            </a:avLst>
          </a:prstGeom>
          <a:solidFill>
            <a:srgbClr val="FBFAF6"/>
          </a:solidFill>
          <a:ln w="15875">
            <a:solidFill>
              <a:srgbClr val="D8D0B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84464" y="1975104"/>
            <a:ext cx="30449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F4D3A"/>
                </a:solidFill>
                <a:latin typeface="맑은 고딕"/>
              </a:rPr>
              <a:t>자동 백업 구조의 이식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4464" y="2340864"/>
            <a:ext cx="3044952" cy="12252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2261F"/>
                </a:solidFill>
                <a:latin typeface="맑은 고딕"/>
              </a:rPr>
              <a:t>Firestore → 스프레드시트 자동 백업 스크립트는 다른 Firebase 기반 사내 도구에도 그대로 이식 가능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496312" y="3886199"/>
            <a:ext cx="3447288" cy="1874519"/>
          </a:xfrm>
          <a:prstGeom prst="roundRect">
            <a:avLst>
              <a:gd name="adj" fmla="val 6000"/>
            </a:avLst>
          </a:prstGeom>
          <a:solidFill>
            <a:srgbClr val="FBFAF6"/>
          </a:solidFill>
          <a:ln w="15875">
            <a:solidFill>
              <a:srgbClr val="D8D0B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97480" y="4032503"/>
            <a:ext cx="30449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F4D3A"/>
                </a:solidFill>
                <a:latin typeface="맑은 고딕"/>
              </a:rPr>
              <a:t>지연 판정 로직의 응용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97480" y="4398263"/>
            <a:ext cx="3044952" cy="12252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2261F"/>
                </a:solidFill>
                <a:latin typeface="맑은 고딕"/>
              </a:rPr>
              <a:t>평균 대비 경과시간 초과 감지 방식은 배송 외 SLA가 있는 다른 업무 모니터링에도 응용 가능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886199"/>
            <a:ext cx="3447288" cy="1874519"/>
          </a:xfrm>
          <a:prstGeom prst="roundRect">
            <a:avLst>
              <a:gd name="adj" fmla="val 6000"/>
            </a:avLst>
          </a:prstGeom>
          <a:solidFill>
            <a:srgbClr val="FBFAF6"/>
          </a:solidFill>
          <a:ln w="15875">
            <a:solidFill>
              <a:srgbClr val="D8D0B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19088" y="4032503"/>
            <a:ext cx="30449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F4D3A"/>
                </a:solidFill>
                <a:latin typeface="맑은 고딕"/>
              </a:rPr>
              <a:t>타 부서 확산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9088" y="4398263"/>
            <a:ext cx="3044952" cy="12252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2261F"/>
                </a:solidFill>
                <a:latin typeface="맑은 고딕"/>
              </a:rPr>
              <a:t>관리자 접근 제한 강화, 인수확인 절차 등을 보완하면 타 물류 거점·타 부서로도 확산 검토 가능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283464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FBFAF6"/>
                </a:solidFill>
                <a:latin typeface="맑은 고딕"/>
              </a:rPr>
              <a:t>감사합니다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49039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F1EDE2"/>
                </a:solidFill>
                <a:latin typeface="맑은 고딕"/>
              </a:rPr>
              <a:t>운송 기록 입력 시스템 · AX 탐험대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367</TotalTime>
  <Words>828</Words>
  <Application>Microsoft Office PowerPoint</Application>
  <PresentationFormat>와이드스크린</PresentationFormat>
  <Paragraphs>86</Paragraphs>
  <Slides>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4" baseType="lpstr">
      <vt:lpstr>Malgun Gothic</vt:lpstr>
      <vt:lpstr>Malgun Gothic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김건형(유통운영팀)</cp:lastModifiedBy>
  <cp:revision>3</cp:revision>
  <dcterms:created xsi:type="dcterms:W3CDTF">2013-01-27T09:14:16Z</dcterms:created>
  <dcterms:modified xsi:type="dcterms:W3CDTF">2026-08-23T13:25:21Z</dcterms:modified>
  <cp:category/>
</cp:coreProperties>
</file>