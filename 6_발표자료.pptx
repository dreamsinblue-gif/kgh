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8FE0B0"/>
                </a:solidFill>
                <a:latin typeface="맑은 고딕"/>
              </a:rPr>
              <a:t>AX 탐험대 · 유통운영팀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BFAF6"/>
                </a:solidFill>
                <a:latin typeface="맑은 고딕"/>
              </a:rPr>
              <a:t>운송기사 배송 입력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F1EDE2"/>
                </a:solidFill>
                <a:latin typeface="맑은 고딕"/>
              </a:rPr>
              <a:t>서버 구축 없이 Firebase와 Google Apps Script만으로 구현한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F1EDE2"/>
                </a:solidFill>
                <a:latin typeface="맑은 고딕"/>
              </a:rPr>
              <a:t>배송 트래킹 자동화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C6E56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개발 배경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108813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 b="1">
                <a:solidFill>
                  <a:srgbClr val="1F4D3A"/>
                </a:solidFill>
                <a:latin typeface="맑은 고딕"/>
              </a:rPr>
              <a:t>●  문제 인식</a:t>
            </a:r>
            <a:r>
              <a:rPr sz="1700">
                <a:solidFill>
                  <a:srgbClr val="22261F"/>
                </a:solidFill>
                <a:latin typeface="맑은 고딕"/>
              </a:rPr>
              <a:t>  —  운송기사가 지점별 운송시작·운송완료 시각을 수기/구두로 관리 → 관리자가 실시간 현황을 파악하기 어렵고, 데이터가 축적되지 않음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 b="1">
                <a:solidFill>
                  <a:srgbClr val="1F4D3A"/>
                </a:solidFill>
                <a:latin typeface="맑은 고딕"/>
              </a:rPr>
              <a:t>●  제약 조건</a:t>
            </a:r>
            <a:r>
              <a:rPr sz="1700">
                <a:solidFill>
                  <a:srgbClr val="22261F"/>
                </a:solidFill>
                <a:latin typeface="맑은 고딕"/>
              </a:rPr>
              <a:t>  —  별도 서버를 새로 구축·운영할 인력·예산 없이, 짧은 기간 안에 실제로 쓸 수 있는 도구가 필요했음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 b="1">
                <a:solidFill>
                  <a:srgbClr val="1F4D3A"/>
                </a:solidFill>
                <a:latin typeface="맑은 고딕"/>
              </a:rPr>
              <a:t>●  선택한 접근</a:t>
            </a:r>
            <a:r>
              <a:rPr sz="1700">
                <a:solidFill>
                  <a:srgbClr val="22261F"/>
                </a:solidFill>
                <a:latin typeface="맑은 고딕"/>
              </a:rPr>
              <a:t>  —  Firebase Firestore(실시간 DB)와 Google Apps Script(자동 백업)만으로 서버 없이 구현 — 도입 비용과 유지보수 부담을 최소화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 b="1">
                <a:solidFill>
                  <a:srgbClr val="1F4D3A"/>
                </a:solidFill>
                <a:latin typeface="맑은 고딕"/>
              </a:rPr>
              <a:t>●  과제 적합성</a:t>
            </a:r>
            <a:r>
              <a:rPr sz="1700">
                <a:solidFill>
                  <a:srgbClr val="22261F"/>
                </a:solidFill>
                <a:latin typeface="맑은 고딕"/>
              </a:rPr>
              <a:t>  —  AX 탐험대 취지에 맞게, 코드 대부분을 AI(Claude Code)와 함께 작성하고 실제 배포·검증까지 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운송기사 배송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시스템 구성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92024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1F4D3A"/>
                </a:solidFill>
                <a:latin typeface="맑은 고딕"/>
              </a:rPr>
              <a:t>기사 앱
(index.html)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92024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1F4D3A"/>
                </a:solidFill>
                <a:latin typeface="맑은 고딕"/>
              </a:rPr>
              <a:t>관리자 앱
(admin.html)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200400"/>
            <a:ext cx="3566160" cy="1051560"/>
          </a:xfrm>
          <a:prstGeom prst="roundRect">
            <a:avLst>
              <a:gd name="adj" fmla="val 12000"/>
            </a:avLst>
          </a:prstGeom>
          <a:solidFill>
            <a:srgbClr val="1F4D3A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500" b="1">
                <a:solidFill>
                  <a:srgbClr val="FBFAF6"/>
                </a:solidFill>
                <a:latin typeface="맑은 고딕"/>
              </a:rPr>
              <a:t>Firestore
(실시간 데이터베이스)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4617720"/>
            <a:ext cx="1554480" cy="868680"/>
          </a:xfrm>
          <a:prstGeom prst="roundRect">
            <a:avLst>
              <a:gd name="adj" fmla="val 12000"/>
            </a:avLst>
          </a:prstGeom>
          <a:solidFill>
            <a:srgbClr val="E7E1D0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1">
                <a:solidFill>
                  <a:srgbClr val="22261F"/>
                </a:solidFill>
                <a:latin typeface="맑은 고딕"/>
              </a:rPr>
              <a:t>Apps Script
(5분 주기)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617720"/>
            <a:ext cx="1554480" cy="868680"/>
          </a:xfrm>
          <a:prstGeom prst="roundRect">
            <a:avLst>
              <a:gd name="adj" fmla="val 12000"/>
            </a:avLst>
          </a:prstGeom>
          <a:solidFill>
            <a:srgbClr val="E7E1D0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1">
                <a:solidFill>
                  <a:srgbClr val="22261F"/>
                </a:solidFill>
                <a:latin typeface="맑은 고딕"/>
              </a:rPr>
              <a:t>Google
스프레드시트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57400" y="2834640"/>
            <a:ext cx="2971800" cy="365760"/>
          </a:xfrm>
          <a:prstGeom prst="line">
            <a:avLst/>
          </a:prstGeom>
          <a:ln w="25400">
            <a:solidFill>
              <a:srgbClr val="3C6E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7132320" y="2834640"/>
            <a:ext cx="2971800" cy="365760"/>
          </a:xfrm>
          <a:prstGeom prst="line">
            <a:avLst/>
          </a:prstGeom>
          <a:ln w="25400">
            <a:solidFill>
              <a:srgbClr val="3C6E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12080" y="4251960"/>
            <a:ext cx="45720" cy="365760"/>
          </a:xfrm>
          <a:prstGeom prst="line">
            <a:avLst/>
          </a:prstGeom>
          <a:ln w="25400">
            <a:solidFill>
              <a:srgbClr val="3C6E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5029200"/>
            <a:ext cx="274320" cy="0"/>
          </a:xfrm>
          <a:prstGeom prst="line">
            <a:avLst/>
          </a:prstGeom>
          <a:ln w="25400">
            <a:solidFill>
              <a:srgbClr val="3C6E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57607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8A8672"/>
                </a:solidFill>
                <a:latin typeface="맑은 고딕"/>
              </a:rPr>
              <a:t>별도 서버 없이 Firestore(실시간 동기화) + Apps Script(자동 백업)만으로 구성된 완전 서버리스 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운송기사 배송 입력 시스템 · AX 탐험대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주요 기능 — 기사 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1F4D3A"/>
                </a:solidFill>
                <a:latin typeface="맑은 고딕"/>
              </a:rPr>
              <a:t>●  2단계 등록</a:t>
            </a:r>
            <a:r>
              <a:rPr sz="1600">
                <a:solidFill>
                  <a:srgbClr val="22261F"/>
                </a:solidFill>
                <a:latin typeface="맑은 고딕"/>
              </a:rPr>
              <a:t>  —  권역·지점 다중 선택 → 확인 화면 → 운송시작 일괄 등록 (동시 시작시각 기록)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1F4D3A"/>
                </a:solidFill>
                <a:latin typeface="맑은 고딕"/>
              </a:rPr>
              <a:t>●  중복 등록 방지</a:t>
            </a:r>
            <a:r>
              <a:rPr sz="1600">
                <a:solidFill>
                  <a:srgbClr val="22261F"/>
                </a:solidFill>
                <a:latin typeface="맑은 고딕"/>
              </a:rPr>
              <a:t>  —  오늘 이미 등록된 지점은 선택 화면에서 자동 비활성화 — 여러 기사가 동시에 써도 안전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1F4D3A"/>
                </a:solidFill>
                <a:latin typeface="맑은 고딕"/>
              </a:rPr>
              <a:t>●  운송완료</a:t>
            </a:r>
            <a:r>
              <a:rPr sz="1600">
                <a:solidFill>
                  <a:srgbClr val="22261F"/>
                </a:solidFill>
                <a:latin typeface="맑은 고딕"/>
              </a:rPr>
              <a:t>  —  확인창(되돌릴 수 없음 안내)을 거쳐 처리, 완료 즉시 목록에서 사라짐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1F4D3A"/>
                </a:solidFill>
                <a:latin typeface="맑은 고딕"/>
              </a:rPr>
              <a:t>●  지방 일괄 운송완료</a:t>
            </a:r>
            <a:r>
              <a:rPr sz="1600">
                <a:solidFill>
                  <a:srgbClr val="22261F"/>
                </a:solidFill>
                <a:latin typeface="맑은 고딕"/>
              </a:rPr>
              <a:t>  —  트럭 한 대로 묶인 지방 지점들이 같은 허브에 동시 도착 → 진행중 2개 이상이면 한 번에 완료 처리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1F4D3A"/>
                </a:solidFill>
                <a:latin typeface="맑은 고딕"/>
              </a:rPr>
              <a:t>●  테스트 모드 (?test=1)</a:t>
            </a:r>
            <a:r>
              <a:rPr sz="1600">
                <a:solidFill>
                  <a:srgbClr val="22261F"/>
                </a:solidFill>
                <a:latin typeface="맑은 고딕"/>
              </a:rPr>
              <a:t>  —  실제 데이터베이스에 영향 없이 샘플 데이터로 모든 기능을 안전하게 미리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운송기사 배송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주요 기능 — 관리자 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1F4D3A"/>
                </a:solidFill>
                <a:latin typeface="맑은 고딕"/>
              </a:rPr>
              <a:t>●  실시간 대시보드</a:t>
            </a:r>
            <a:r>
              <a:rPr sz="1600">
                <a:solidFill>
                  <a:srgbClr val="22261F"/>
                </a:solidFill>
                <a:latin typeface="맑은 고딕"/>
              </a:rPr>
              <a:t>  —  36개 지점(수도권 24 · 지방 12) 전체를 대기/운송중/완료 3색으로 실시간 표시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1F4D3A"/>
                </a:solidFill>
                <a:latin typeface="맑은 고딕"/>
              </a:rPr>
              <a:t>●  지연 판정</a:t>
            </a:r>
            <a:r>
              <a:rPr sz="1600">
                <a:solidFill>
                  <a:srgbClr val="22261F"/>
                </a:solidFill>
                <a:latin typeface="맑은 고딕"/>
              </a:rPr>
              <a:t>  —  경과시간이 평균 대비 15분 이상 초과하면 '지연' 배지 자동 표시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1F4D3A"/>
                </a:solidFill>
                <a:latin typeface="맑은 고딕"/>
              </a:rPr>
              <a:t>●  소요시간 통계</a:t>
            </a:r>
            <a:r>
              <a:rPr sz="1600">
                <a:solidFill>
                  <a:srgbClr val="22261F"/>
                </a:solidFill>
                <a:latin typeface="맑은 고딕"/>
              </a:rPr>
              <a:t>  —  최근 30일 중 조회일 선택 → 지점별 월평균 대비 증감을 색상으로 비교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1F4D3A"/>
                </a:solidFill>
                <a:latin typeface="맑은 고딕"/>
              </a:rPr>
              <a:t>●  접근 제한</a:t>
            </a:r>
            <a:r>
              <a:rPr sz="1600">
                <a:solidFill>
                  <a:srgbClr val="22261F"/>
                </a:solidFill>
                <a:latin typeface="맑은 고딕"/>
              </a:rPr>
              <a:t>  —  이메일/비밀번호 로그인 필요, 로그인된 계정만 전체 기간 데이터 조회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운송기사 배송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개발 과정에서의 특이사항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50" b="1">
                <a:solidFill>
                  <a:srgbClr val="1F4D3A"/>
                </a:solidFill>
                <a:latin typeface="맑은 고딕"/>
              </a:rPr>
              <a:t>●  배포 후에만 드러난 보안 규칙 버그</a:t>
            </a:r>
            <a:r>
              <a:rPr sz="1450">
                <a:solidFill>
                  <a:srgbClr val="22261F"/>
                </a:solidFill>
                <a:latin typeface="맑은 고딕"/>
              </a:rPr>
              <a:t>  —  Firestore 보안 규칙은 '컴파일 성공'과 '실제 동작'이 다를 수 있음을 확인 — ① 존재하지 않는 인증 클레임을 비교하면 규칙 전체가 조용히 거부되고 ② 날짜 함수가 시간대 인자를 지원하지 않아 항상 UTC로만 계산됨. 두 문제 모두 실제 라이브 환경에서 기사 계정으로 직접 테스트해서야 발견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50" b="1">
                <a:solidFill>
                  <a:srgbClr val="1F4D3A"/>
                </a:solidFill>
                <a:latin typeface="맑은 고딕"/>
              </a:rPr>
              <a:t>●  동시 사용 시나리오 반영</a:t>
            </a:r>
            <a:r>
              <a:rPr sz="1450">
                <a:solidFill>
                  <a:srgbClr val="22261F"/>
                </a:solidFill>
                <a:latin typeface="맑은 고딕"/>
              </a:rPr>
              <a:t>  —  여러 기사가 동시에 앱을 쓴다는 실제 현장 조건을 뒤늦게 반영 — 지점 선택 화면에 중복 등록 방지 로직을 추가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50" b="1">
                <a:solidFill>
                  <a:srgbClr val="1F4D3A"/>
                </a:solidFill>
                <a:latin typeface="맑은 고딕"/>
              </a:rPr>
              <a:t>●  현장 물류 특성 반영</a:t>
            </a:r>
            <a:r>
              <a:rPr sz="1450">
                <a:solidFill>
                  <a:srgbClr val="22261F"/>
                </a:solidFill>
                <a:latin typeface="맑은 고딕"/>
              </a:rPr>
              <a:t>  —  지방 지점은 개별 도착이 아닌 '중간 허브 도착' 기준이라는 점을 확인하고, 일괄 등록·일괄 완료 기능으로 구현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50" b="1">
                <a:solidFill>
                  <a:srgbClr val="1F4D3A"/>
                </a:solidFill>
                <a:latin typeface="맑은 고딕"/>
              </a:rPr>
              <a:t>●  운영 정책 조정</a:t>
            </a:r>
            <a:r>
              <a:rPr sz="1450">
                <a:solidFill>
                  <a:srgbClr val="22261F"/>
                </a:solidFill>
                <a:latin typeface="맑은 고딕"/>
              </a:rPr>
              <a:t>  —  완료 취소(초기화) 기능을 없애는 대신, 완료 시 확인창을 강화 — 데이터 신뢰성과 조작 편의성 사이의 트레이드오프를 논의 후 결정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50" b="1">
                <a:solidFill>
                  <a:srgbClr val="1F4D3A"/>
                </a:solidFill>
                <a:latin typeface="맑은 고딕"/>
              </a:rPr>
              <a:t>●  실서비스에 안전한 개발 환경</a:t>
            </a:r>
            <a:r>
              <a:rPr sz="1450">
                <a:solidFill>
                  <a:srgbClr val="22261F"/>
                </a:solidFill>
                <a:latin typeface="맑은 고딕"/>
              </a:rPr>
              <a:t>  —  라이브 데이터를 건드리지 않고 검증할 수 있도록 테스트 모드·격리된 테스트 데이터·자동 정리 절차를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운송기사 배송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현재 상태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배포 완료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Firebase Hosting에 실제 배포, 기사·관리자 앱 모두 라이브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보안 규칙 배포·검증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실제 계정으로 end-to-end 테스트 완료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자동 백업 검증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5분 주기 스프레드시트 반영 실데이터로 확인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형상관리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GitHub 저장소 연동, 여러 컴퓨터에서 이어서 작업 가능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874519"/>
            <a:ext cx="5029200" cy="393192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22261F"/>
                </a:solidFill>
                <a:latin typeface="맑은 고딕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031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배포 URL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5146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8672"/>
                </a:solidFill>
                <a:latin typeface="맑은 고딕"/>
              </a:rPr>
              <a:t>기사 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.../driver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2461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8672"/>
                </a:solidFill>
                <a:latin typeface="맑은 고딕"/>
              </a:rPr>
              <a:t>관리자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5204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.../admin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9776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적용범위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34340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배송망 36개 지점 (수도권 24 · 지방 12)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운송기사 전원 + 관리자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운송기사 배송 입력 시스템 · AX 탐험대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향후 확산 가능성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다른 물류 프로세스로 확장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반품 처리, 재고 이동, 창고 간 이관 등 '지점별 상태 변화를 실시간으로 추적'해야 하는 업무 전반에 동일 구조 적용 가능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서버리스 패턴의 재사용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서버 구축 없이 Firebase + Apps Script로 구현하는 이 방식은 소규모 팀 단위 업무 자동화 과제에 낮은 비용으로 재사용 가능한 템플릿이 됨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자동 백업 구조의 이식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Firestore → 스프레드시트 자동 백업 스크립트는 다른 Firebase 기반 사내 도구에도 그대로 이식 가능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지연 판정 로직의 응용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평균 대비 경과시간 초과를 감지하는 방식은 배송 외에도 처리 SLA가 있는 다른 업무 모니터링에 응용 가능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타 부서 확산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관리자 페이지 접근 제한 강화, 인수확인 절차 등을 보완하면 타 물류 거점·타 부서로도 확산 검토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운송기사 배송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FAF6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1EDE2"/>
                </a:solidFill>
                <a:latin typeface="맑은 고딕"/>
              </a:rPr>
              <a:t>운송기사 배송 입력 시스템 · AX 탐험대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