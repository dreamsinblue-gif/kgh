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756" y="11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8FE0B0"/>
                </a:solidFill>
                <a:latin typeface="맑은 고딕"/>
              </a:rPr>
              <a:t>AX 탐험대 · 유통운영팀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BFAF6"/>
                </a:solidFill>
                <a:latin typeface="맑은 고딕"/>
              </a:rPr>
              <a:t>운송 기록 입력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264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C6E56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6E56"/>
                </a:solidFill>
                <a:latin typeface="맑은 고딕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482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dirty="0" err="1">
                <a:solidFill>
                  <a:srgbClr val="1F4D3A"/>
                </a:solidFill>
                <a:latin typeface="맑은 고딕"/>
              </a:rPr>
              <a:t>배경</a:t>
            </a:r>
            <a:endParaRPr sz="3000" b="1" i="0" dirty="0">
              <a:solidFill>
                <a:srgbClr val="1F4D3A"/>
              </a:solidFill>
              <a:latin typeface="맑은 고딕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640080" y="1508760"/>
            <a:ext cx="10881360" cy="0"/>
          </a:xfrm>
          <a:prstGeom prst="line">
            <a:avLst/>
          </a:prstGeom>
          <a:ln w="12700">
            <a:solidFill>
              <a:srgbClr val="D8D0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운송 기록 입력 시스템 · AX 탐험대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2514600" cy="3931920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1975104"/>
            <a:ext cx="211226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C97A2B"/>
                </a:solidFill>
                <a:latin typeface="맑은 고딕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249424"/>
            <a:ext cx="211226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F4D3A"/>
                </a:solidFill>
                <a:latin typeface="맑은 고딕"/>
              </a:rPr>
              <a:t>문제 인식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615184"/>
            <a:ext cx="2112264" cy="14403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 dirty="0" err="1">
                <a:solidFill>
                  <a:srgbClr val="22261F"/>
                </a:solidFill>
                <a:latin typeface="맑은 고딕"/>
              </a:rPr>
              <a:t>운송기사가</a:t>
            </a:r>
            <a:r>
              <a:rPr sz="130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22261F"/>
                </a:solidFill>
                <a:latin typeface="맑은 고딕"/>
              </a:rPr>
              <a:t>지점별</a:t>
            </a:r>
            <a:r>
              <a:rPr sz="130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22261F"/>
                </a:solidFill>
                <a:latin typeface="맑은 고딕"/>
              </a:rPr>
              <a:t>운송시작·운송완료</a:t>
            </a:r>
            <a:r>
              <a:rPr sz="130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22261F"/>
                </a:solidFill>
                <a:latin typeface="맑은 고딕"/>
              </a:rPr>
              <a:t>시각을</a:t>
            </a:r>
            <a:r>
              <a:rPr sz="130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22261F"/>
                </a:solidFill>
                <a:latin typeface="맑은 고딕"/>
              </a:rPr>
              <a:t>수기</a:t>
            </a:r>
            <a:r>
              <a:rPr sz="1300" b="0" i="0" dirty="0">
                <a:solidFill>
                  <a:srgbClr val="22261F"/>
                </a:solidFill>
                <a:latin typeface="맑은 고딕"/>
              </a:rPr>
              <a:t>/</a:t>
            </a:r>
            <a:r>
              <a:rPr sz="1300" b="0" i="0" dirty="0" err="1">
                <a:solidFill>
                  <a:srgbClr val="22261F"/>
                </a:solidFill>
                <a:latin typeface="맑은 고딕"/>
              </a:rPr>
              <a:t>구두로</a:t>
            </a:r>
            <a:r>
              <a:rPr sz="130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22261F"/>
                </a:solidFill>
                <a:latin typeface="맑은 고딕"/>
              </a:rPr>
              <a:t>관리</a:t>
            </a:r>
            <a:r>
              <a:rPr sz="1300" b="0" i="0" dirty="0">
                <a:solidFill>
                  <a:srgbClr val="22261F"/>
                </a:solidFill>
                <a:latin typeface="맑은 고딕"/>
              </a:rPr>
              <a:t> </a:t>
            </a:r>
            <a:endParaRPr lang="en-US" sz="1300" b="0" i="0" dirty="0" smtClean="0">
              <a:solidFill>
                <a:srgbClr val="22261F"/>
              </a:solidFill>
              <a:latin typeface="맑은 고딕"/>
            </a:endParaRPr>
          </a:p>
          <a:p>
            <a:pPr algn="l">
              <a:lnSpc>
                <a:spcPct val="120000"/>
              </a:lnSpc>
            </a:pPr>
            <a:endParaRPr lang="en-US" sz="1300" dirty="0">
              <a:solidFill>
                <a:srgbClr val="22261F"/>
              </a:solidFill>
              <a:latin typeface="맑은 고딕"/>
            </a:endParaRPr>
          </a:p>
          <a:p>
            <a:pPr algn="l">
              <a:lnSpc>
                <a:spcPct val="120000"/>
              </a:lnSpc>
            </a:pPr>
            <a:r>
              <a:rPr sz="1300" b="0" i="0" dirty="0" smtClean="0">
                <a:solidFill>
                  <a:srgbClr val="22261F"/>
                </a:solidFill>
                <a:latin typeface="맑은 고딕"/>
              </a:rPr>
              <a:t>→ </a:t>
            </a:r>
            <a:r>
              <a:rPr sz="1300" b="0" i="0" dirty="0" err="1" smtClean="0">
                <a:solidFill>
                  <a:srgbClr val="22261F"/>
                </a:solidFill>
                <a:latin typeface="맑은 고딕"/>
              </a:rPr>
              <a:t>현황</a:t>
            </a:r>
            <a:r>
              <a:rPr lang="ko-KR" altLang="en-US" sz="1300" b="0" i="0" dirty="0" smtClean="0">
                <a:solidFill>
                  <a:srgbClr val="22261F"/>
                </a:solidFill>
                <a:latin typeface="맑은 고딕"/>
              </a:rPr>
              <a:t>을</a:t>
            </a:r>
            <a:r>
              <a:rPr sz="1300" b="0" i="0" dirty="0" smtClean="0">
                <a:solidFill>
                  <a:srgbClr val="22261F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22261F"/>
                </a:solidFill>
                <a:latin typeface="맑은 고딕"/>
              </a:rPr>
              <a:t>파악하기</a:t>
            </a:r>
            <a:r>
              <a:rPr sz="130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22261F"/>
                </a:solidFill>
                <a:latin typeface="맑은 고딕"/>
              </a:rPr>
              <a:t>어렵고</a:t>
            </a:r>
            <a:r>
              <a:rPr sz="1300" b="0" i="0" dirty="0">
                <a:solidFill>
                  <a:srgbClr val="22261F"/>
                </a:solidFill>
                <a:latin typeface="맑은 고딕"/>
              </a:rPr>
              <a:t>, </a:t>
            </a:r>
            <a:r>
              <a:rPr sz="1300" b="0" i="0" dirty="0" err="1">
                <a:solidFill>
                  <a:srgbClr val="22261F"/>
                </a:solidFill>
                <a:latin typeface="맑은 고딕"/>
              </a:rPr>
              <a:t>데이터가</a:t>
            </a:r>
            <a:r>
              <a:rPr sz="130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22261F"/>
                </a:solidFill>
                <a:latin typeface="맑은 고딕"/>
              </a:rPr>
              <a:t>축적되지</a:t>
            </a:r>
            <a:r>
              <a:rPr sz="130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22261F"/>
                </a:solidFill>
                <a:latin typeface="맑은 고딕"/>
              </a:rPr>
              <a:t>않음</a:t>
            </a:r>
            <a:endParaRPr sz="1300" b="0" i="0" dirty="0">
              <a:solidFill>
                <a:srgbClr val="22261F"/>
              </a:solidFill>
              <a:latin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429000" y="1828800"/>
            <a:ext cx="2514600" cy="3931920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30168" y="1975104"/>
            <a:ext cx="211226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C97A2B"/>
                </a:solidFill>
                <a:latin typeface="맑은 고딕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0168" y="2249424"/>
            <a:ext cx="211226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F4D3A"/>
                </a:solidFill>
                <a:latin typeface="맑은 고딕"/>
              </a:rPr>
              <a:t>제약 조건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0168" y="2615184"/>
            <a:ext cx="2112264" cy="24006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ko-KR" altLang="en-US" sz="1300" b="0" i="0" dirty="0" smtClean="0">
                <a:solidFill>
                  <a:srgbClr val="22261F"/>
                </a:solidFill>
                <a:latin typeface="맑은 고딕"/>
              </a:rPr>
              <a:t>현장상황 이슈</a:t>
            </a:r>
            <a:endParaRPr lang="en-US" altLang="ko-KR" sz="1300" b="0" i="0" dirty="0" smtClean="0">
              <a:solidFill>
                <a:srgbClr val="22261F"/>
              </a:solidFill>
              <a:latin typeface="맑은 고딕"/>
            </a:endParaRPr>
          </a:p>
          <a:p>
            <a:pPr>
              <a:lnSpc>
                <a:spcPct val="120000"/>
              </a:lnSpc>
            </a:pPr>
            <a:r>
              <a:rPr lang="ko-KR" altLang="en-US" sz="1300" dirty="0" smtClean="0">
                <a:solidFill>
                  <a:srgbClr val="22261F"/>
                </a:solidFill>
                <a:latin typeface="맑은 고딕"/>
              </a:rPr>
              <a:t>→ </a:t>
            </a:r>
            <a:r>
              <a:rPr lang="ko-KR" altLang="en-US" sz="1300" dirty="0" err="1" smtClean="0">
                <a:solidFill>
                  <a:srgbClr val="22261F"/>
                </a:solidFill>
                <a:latin typeface="맑은 고딕"/>
              </a:rPr>
              <a:t>운송기사의</a:t>
            </a:r>
            <a:r>
              <a:rPr lang="ko-KR" altLang="en-US" sz="1300" dirty="0" smtClean="0">
                <a:solidFill>
                  <a:srgbClr val="22261F"/>
                </a:solidFill>
                <a:latin typeface="맑은 고딕"/>
              </a:rPr>
              <a:t> </a:t>
            </a:r>
            <a:r>
              <a:rPr lang="en-US" altLang="ko-KR" sz="1300" dirty="0" smtClean="0">
                <a:solidFill>
                  <a:srgbClr val="22261F"/>
                </a:solidFill>
                <a:latin typeface="맑은 고딕"/>
              </a:rPr>
              <a:t>UX, </a:t>
            </a:r>
            <a:r>
              <a:rPr lang="ko-KR" altLang="en-US" sz="1300" dirty="0" smtClean="0">
                <a:solidFill>
                  <a:srgbClr val="22261F"/>
                </a:solidFill>
                <a:latin typeface="맑은 고딕"/>
              </a:rPr>
              <a:t>번거로움</a:t>
            </a:r>
            <a:endParaRPr lang="en-US" sz="1300" b="0" i="0" dirty="0" smtClean="0">
              <a:solidFill>
                <a:srgbClr val="22261F"/>
              </a:solidFill>
              <a:latin typeface="맑은 고딕"/>
            </a:endParaRPr>
          </a:p>
          <a:p>
            <a:pPr>
              <a:lnSpc>
                <a:spcPct val="120000"/>
              </a:lnSpc>
            </a:pPr>
            <a:r>
              <a:rPr lang="ko-KR" altLang="en-US" sz="1300" dirty="0" smtClean="0">
                <a:solidFill>
                  <a:srgbClr val="22261F"/>
                </a:solidFill>
                <a:latin typeface="맑은 고딕"/>
              </a:rPr>
              <a:t>→ 바쁜 운송 업무</a:t>
            </a:r>
            <a:r>
              <a:rPr lang="en-US" altLang="ko-KR" sz="1300" dirty="0" smtClean="0">
                <a:solidFill>
                  <a:srgbClr val="22261F"/>
                </a:solidFill>
                <a:latin typeface="맑은 고딕"/>
              </a:rPr>
              <a:t>?</a:t>
            </a:r>
            <a:endParaRPr lang="en-US" sz="1300" b="0" i="0" dirty="0" smtClean="0">
              <a:solidFill>
                <a:srgbClr val="22261F"/>
              </a:solidFill>
              <a:latin typeface="맑은 고딕"/>
            </a:endParaRPr>
          </a:p>
          <a:p>
            <a:pPr algn="l">
              <a:lnSpc>
                <a:spcPct val="120000"/>
              </a:lnSpc>
            </a:pPr>
            <a:endParaRPr lang="en-US" sz="1300" dirty="0">
              <a:solidFill>
                <a:srgbClr val="22261F"/>
              </a:solidFill>
              <a:latin typeface="맑은 고딕"/>
            </a:endParaRPr>
          </a:p>
          <a:p>
            <a:pPr algn="l">
              <a:lnSpc>
                <a:spcPct val="120000"/>
              </a:lnSpc>
            </a:pPr>
            <a:r>
              <a:rPr lang="ko-KR" altLang="en-US" sz="1300" b="0" i="0" dirty="0" smtClean="0">
                <a:solidFill>
                  <a:srgbClr val="22261F"/>
                </a:solidFill>
                <a:latin typeface="맑은 고딕"/>
              </a:rPr>
              <a:t>개발 환경 이슈</a:t>
            </a:r>
            <a:endParaRPr lang="en-US" sz="1300" b="0" i="0" dirty="0" smtClean="0">
              <a:solidFill>
                <a:srgbClr val="22261F"/>
              </a:solidFill>
              <a:latin typeface="맑은 고딕"/>
            </a:endParaRPr>
          </a:p>
          <a:p>
            <a:pPr>
              <a:lnSpc>
                <a:spcPct val="120000"/>
              </a:lnSpc>
            </a:pPr>
            <a:r>
              <a:rPr lang="ko-KR" altLang="en-US" sz="1300" dirty="0" smtClean="0">
                <a:solidFill>
                  <a:srgbClr val="22261F"/>
                </a:solidFill>
                <a:latin typeface="맑은 고딕"/>
              </a:rPr>
              <a:t>→</a:t>
            </a:r>
            <a:r>
              <a:rPr lang="en-US" altLang="ko-KR" sz="1300" dirty="0" smtClean="0">
                <a:solidFill>
                  <a:srgbClr val="22261F"/>
                </a:solidFill>
                <a:latin typeface="맑은 고딕"/>
              </a:rPr>
              <a:t> </a:t>
            </a:r>
            <a:r>
              <a:rPr sz="1300" b="0" i="0" dirty="0" err="1" smtClean="0">
                <a:solidFill>
                  <a:srgbClr val="22261F"/>
                </a:solidFill>
                <a:latin typeface="맑은 고딕"/>
              </a:rPr>
              <a:t>별도로</a:t>
            </a:r>
            <a:r>
              <a:rPr sz="1300" b="0" i="0" dirty="0" smtClean="0">
                <a:solidFill>
                  <a:srgbClr val="22261F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22261F"/>
                </a:solidFill>
                <a:latin typeface="맑은 고딕"/>
              </a:rPr>
              <a:t>구축·</a:t>
            </a:r>
            <a:r>
              <a:rPr sz="1300" b="0" i="0" dirty="0" err="1" smtClean="0">
                <a:solidFill>
                  <a:srgbClr val="22261F"/>
                </a:solidFill>
                <a:latin typeface="맑은 고딕"/>
              </a:rPr>
              <a:t>운영할</a:t>
            </a:r>
            <a:r>
              <a:rPr lang="en-US" sz="1300" b="0" i="0" dirty="0" smtClean="0">
                <a:solidFill>
                  <a:srgbClr val="22261F"/>
                </a:solidFill>
                <a:latin typeface="맑은 고딕"/>
              </a:rPr>
              <a:t> </a:t>
            </a:r>
            <a:r>
              <a:rPr lang="ko-KR" altLang="en-US" sz="1300" dirty="0" smtClean="0">
                <a:solidFill>
                  <a:srgbClr val="22261F"/>
                </a:solidFill>
                <a:latin typeface="맑은 고딕"/>
              </a:rPr>
              <a:t>경우</a:t>
            </a:r>
            <a:r>
              <a:rPr lang="en-US" altLang="ko-KR" sz="1300" dirty="0" smtClean="0">
                <a:solidFill>
                  <a:srgbClr val="22261F"/>
                </a:solidFill>
                <a:latin typeface="맑은 고딕"/>
              </a:rPr>
              <a:t>, </a:t>
            </a:r>
            <a:r>
              <a:rPr lang="ko-KR" altLang="en-US" sz="1300" dirty="0" err="1" smtClean="0">
                <a:solidFill>
                  <a:srgbClr val="22261F"/>
                </a:solidFill>
                <a:latin typeface="맑은 고딕"/>
              </a:rPr>
              <a:t>유관부서</a:t>
            </a:r>
            <a:r>
              <a:rPr lang="ko-KR" altLang="en-US" sz="1300" dirty="0" smtClean="0">
                <a:solidFill>
                  <a:srgbClr val="22261F"/>
                </a:solidFill>
                <a:latin typeface="맑은 고딕"/>
              </a:rPr>
              <a:t> 지원 필요</a:t>
            </a:r>
            <a:endParaRPr lang="en-US" altLang="ko-KR" sz="1300" dirty="0" smtClean="0">
              <a:solidFill>
                <a:srgbClr val="22261F"/>
              </a:solidFill>
              <a:latin typeface="맑은 고딕"/>
            </a:endParaRPr>
          </a:p>
          <a:p>
            <a:pPr>
              <a:lnSpc>
                <a:spcPct val="120000"/>
              </a:lnSpc>
            </a:pPr>
            <a:r>
              <a:rPr lang="ko-KR" altLang="en-US" sz="1300" dirty="0">
                <a:solidFill>
                  <a:srgbClr val="22261F"/>
                </a:solidFill>
                <a:latin typeface="맑은 고딕"/>
              </a:rPr>
              <a:t>→</a:t>
            </a:r>
            <a:r>
              <a:rPr sz="1300" b="0" i="0" dirty="0" smtClean="0">
                <a:solidFill>
                  <a:srgbClr val="22261F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22261F"/>
                </a:solidFill>
                <a:latin typeface="맑은 고딕"/>
              </a:rPr>
              <a:t>인력·예산</a:t>
            </a:r>
            <a:r>
              <a:rPr sz="130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22261F"/>
                </a:solidFill>
                <a:latin typeface="맑은 고딕"/>
              </a:rPr>
              <a:t>없이</a:t>
            </a:r>
            <a:r>
              <a:rPr sz="1300" b="0" i="0" dirty="0">
                <a:solidFill>
                  <a:srgbClr val="22261F"/>
                </a:solidFill>
                <a:latin typeface="맑은 고딕"/>
              </a:rPr>
              <a:t>, </a:t>
            </a:r>
            <a:r>
              <a:rPr sz="1300" b="0" i="0" dirty="0" err="1">
                <a:solidFill>
                  <a:srgbClr val="22261F"/>
                </a:solidFill>
                <a:latin typeface="맑은 고딕"/>
              </a:rPr>
              <a:t>짧은</a:t>
            </a:r>
            <a:r>
              <a:rPr sz="130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22261F"/>
                </a:solidFill>
                <a:latin typeface="맑은 고딕"/>
              </a:rPr>
              <a:t>기간</a:t>
            </a:r>
            <a:r>
              <a:rPr sz="130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22261F"/>
                </a:solidFill>
                <a:latin typeface="맑은 고딕"/>
              </a:rPr>
              <a:t>안에</a:t>
            </a:r>
            <a:r>
              <a:rPr sz="130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lang="ko-KR" altLang="en-US" sz="1300" dirty="0" smtClean="0">
                <a:solidFill>
                  <a:srgbClr val="22261F"/>
                </a:solidFill>
                <a:latin typeface="맑은 고딕"/>
              </a:rPr>
              <a:t>실질적으로</a:t>
            </a:r>
            <a:r>
              <a:rPr sz="1300" b="0" i="0" dirty="0" smtClean="0">
                <a:solidFill>
                  <a:srgbClr val="22261F"/>
                </a:solidFill>
                <a:latin typeface="맑은 고딕"/>
              </a:rPr>
              <a:t> </a:t>
            </a:r>
            <a:r>
              <a:rPr sz="1300" b="0" i="0" dirty="0">
                <a:solidFill>
                  <a:srgbClr val="22261F"/>
                </a:solidFill>
                <a:latin typeface="맑은 고딕"/>
              </a:rPr>
              <a:t>쓸 수 </a:t>
            </a:r>
            <a:r>
              <a:rPr sz="1300" b="0" i="0" dirty="0" err="1">
                <a:solidFill>
                  <a:srgbClr val="22261F"/>
                </a:solidFill>
                <a:latin typeface="맑은 고딕"/>
              </a:rPr>
              <a:t>있는</a:t>
            </a:r>
            <a:r>
              <a:rPr sz="130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22261F"/>
                </a:solidFill>
                <a:latin typeface="맑은 고딕"/>
              </a:rPr>
              <a:t>도구가</a:t>
            </a:r>
            <a:r>
              <a:rPr sz="130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300" b="0" i="0" dirty="0" err="1" smtClean="0">
                <a:solidFill>
                  <a:srgbClr val="22261F"/>
                </a:solidFill>
                <a:latin typeface="맑은 고딕"/>
              </a:rPr>
              <a:t>필요했음</a:t>
            </a:r>
            <a:r>
              <a:rPr lang="en-US" sz="1300" b="0" i="0" dirty="0" smtClean="0">
                <a:solidFill>
                  <a:srgbClr val="22261F"/>
                </a:solidFill>
                <a:latin typeface="맑은 고딕"/>
              </a:rPr>
              <a:t>.</a:t>
            </a:r>
            <a:endParaRPr sz="1300" b="0" i="0" dirty="0">
              <a:solidFill>
                <a:srgbClr val="22261F"/>
              </a:solidFill>
              <a:latin typeface="맑은 고딕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217920" y="1828800"/>
            <a:ext cx="2514600" cy="3931920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19088" y="1975104"/>
            <a:ext cx="211226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C97A2B"/>
                </a:solidFill>
                <a:latin typeface="맑은 고딕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2249424"/>
            <a:ext cx="211226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F4D3A"/>
                </a:solidFill>
                <a:latin typeface="맑은 고딕"/>
              </a:rPr>
              <a:t>선택한 접근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2615184"/>
            <a:ext cx="2112264" cy="24006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1300" dirty="0" smtClean="0">
                <a:solidFill>
                  <a:srgbClr val="22261F"/>
                </a:solidFill>
                <a:latin typeface="맑은 고딕"/>
              </a:rPr>
              <a:t>Mobile, PC</a:t>
            </a:r>
            <a:r>
              <a:rPr lang="ko-KR" altLang="en-US" sz="1300" dirty="0" smtClean="0">
                <a:solidFill>
                  <a:srgbClr val="22261F"/>
                </a:solidFill>
                <a:latin typeface="맑은 고딕"/>
              </a:rPr>
              <a:t>환경 고려</a:t>
            </a:r>
            <a:endParaRPr lang="en-US" altLang="ko-KR" sz="1300" dirty="0" smtClean="0">
              <a:solidFill>
                <a:srgbClr val="22261F"/>
              </a:solidFill>
              <a:latin typeface="맑은 고딕"/>
            </a:endParaRPr>
          </a:p>
          <a:p>
            <a:pPr>
              <a:lnSpc>
                <a:spcPct val="120000"/>
              </a:lnSpc>
            </a:pPr>
            <a:r>
              <a:rPr lang="ko-KR" altLang="en-US" sz="1300" dirty="0" smtClean="0">
                <a:solidFill>
                  <a:srgbClr val="22261F"/>
                </a:solidFill>
                <a:latin typeface="맑은 고딕"/>
              </a:rPr>
              <a:t>→ </a:t>
            </a:r>
            <a:r>
              <a:rPr lang="en-US" altLang="ko-KR" sz="1300" dirty="0" smtClean="0">
                <a:solidFill>
                  <a:srgbClr val="22261F"/>
                </a:solidFill>
                <a:latin typeface="맑은 고딕"/>
              </a:rPr>
              <a:t>URL </a:t>
            </a:r>
            <a:r>
              <a:rPr lang="ko-KR" altLang="en-US" sz="1300" dirty="0" smtClean="0">
                <a:solidFill>
                  <a:srgbClr val="22261F"/>
                </a:solidFill>
                <a:latin typeface="맑은 고딕"/>
              </a:rPr>
              <a:t>등록만으로 접근</a:t>
            </a:r>
            <a:endParaRPr lang="en-US" altLang="ko-KR" sz="1300" dirty="0" smtClean="0">
              <a:solidFill>
                <a:srgbClr val="22261F"/>
              </a:solidFill>
              <a:latin typeface="맑은 고딕"/>
            </a:endParaRPr>
          </a:p>
          <a:p>
            <a:pPr>
              <a:lnSpc>
                <a:spcPct val="120000"/>
              </a:lnSpc>
            </a:pPr>
            <a:r>
              <a:rPr lang="ko-KR" altLang="en-US" sz="1300" dirty="0" smtClean="0">
                <a:solidFill>
                  <a:srgbClr val="22261F"/>
                </a:solidFill>
                <a:latin typeface="맑은 고딕"/>
              </a:rPr>
              <a:t>→ 사용성 고려</a:t>
            </a:r>
            <a:endParaRPr lang="en-US" altLang="ko-KR" sz="1300" dirty="0" smtClean="0">
              <a:solidFill>
                <a:srgbClr val="22261F"/>
              </a:solidFill>
              <a:latin typeface="맑은 고딕"/>
            </a:endParaRPr>
          </a:p>
          <a:p>
            <a:pPr>
              <a:lnSpc>
                <a:spcPct val="120000"/>
              </a:lnSpc>
            </a:pPr>
            <a:endParaRPr lang="en-US" altLang="ko-KR" sz="1300" dirty="0">
              <a:solidFill>
                <a:srgbClr val="22261F"/>
              </a:solidFill>
              <a:latin typeface="맑은 고딕"/>
            </a:endParaRPr>
          </a:p>
          <a:p>
            <a:pPr>
              <a:lnSpc>
                <a:spcPct val="120000"/>
              </a:lnSpc>
            </a:pPr>
            <a:r>
              <a:rPr lang="ko-KR" altLang="en-US" sz="1300" dirty="0" smtClean="0">
                <a:solidFill>
                  <a:srgbClr val="22261F"/>
                </a:solidFill>
                <a:latin typeface="맑은 고딕"/>
              </a:rPr>
              <a:t>도입 </a:t>
            </a:r>
            <a:r>
              <a:rPr lang="ko-KR" altLang="en-US" sz="1300" dirty="0">
                <a:solidFill>
                  <a:srgbClr val="22261F"/>
                </a:solidFill>
                <a:latin typeface="맑은 고딕"/>
              </a:rPr>
              <a:t>비용과 유지보수 부담을 최소화</a:t>
            </a:r>
          </a:p>
          <a:p>
            <a:pPr>
              <a:lnSpc>
                <a:spcPct val="120000"/>
              </a:lnSpc>
            </a:pPr>
            <a:r>
              <a:rPr lang="ko-KR" altLang="en-US" sz="1300" dirty="0" smtClean="0">
                <a:solidFill>
                  <a:srgbClr val="22261F"/>
                </a:solidFill>
                <a:latin typeface="맑은 고딕"/>
              </a:rPr>
              <a:t>→</a:t>
            </a:r>
            <a:r>
              <a:rPr sz="1300" b="0" i="0" dirty="0" smtClean="0">
                <a:solidFill>
                  <a:srgbClr val="22261F"/>
                </a:solidFill>
                <a:latin typeface="맑은 고딕"/>
              </a:rPr>
              <a:t>Firebase </a:t>
            </a:r>
            <a:r>
              <a:rPr sz="1300" b="0" i="0" dirty="0" err="1">
                <a:solidFill>
                  <a:srgbClr val="22261F"/>
                </a:solidFill>
                <a:latin typeface="맑은 고딕"/>
              </a:rPr>
              <a:t>Firestore</a:t>
            </a:r>
            <a:r>
              <a:rPr sz="1300" b="0" i="0" dirty="0">
                <a:solidFill>
                  <a:srgbClr val="22261F"/>
                </a:solidFill>
                <a:latin typeface="맑은 고딕"/>
              </a:rPr>
              <a:t>(</a:t>
            </a:r>
            <a:r>
              <a:rPr sz="1300" b="0" i="0" dirty="0" err="1">
                <a:solidFill>
                  <a:srgbClr val="22261F"/>
                </a:solidFill>
                <a:latin typeface="맑은 고딕"/>
              </a:rPr>
              <a:t>실시간</a:t>
            </a:r>
            <a:r>
              <a:rPr sz="1300" b="0" i="0" dirty="0">
                <a:solidFill>
                  <a:srgbClr val="22261F"/>
                </a:solidFill>
                <a:latin typeface="맑은 고딕"/>
              </a:rPr>
              <a:t> DB)와 Google Apps Script(</a:t>
            </a:r>
            <a:r>
              <a:rPr sz="1300" b="0" i="0" dirty="0" err="1">
                <a:solidFill>
                  <a:srgbClr val="22261F"/>
                </a:solidFill>
                <a:latin typeface="맑은 고딕"/>
              </a:rPr>
              <a:t>자동</a:t>
            </a:r>
            <a:r>
              <a:rPr sz="130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22261F"/>
                </a:solidFill>
                <a:latin typeface="맑은 고딕"/>
              </a:rPr>
              <a:t>백업</a:t>
            </a:r>
            <a:r>
              <a:rPr sz="1300" b="0" i="0" dirty="0">
                <a:solidFill>
                  <a:srgbClr val="22261F"/>
                </a:solidFill>
                <a:latin typeface="맑은 고딕"/>
              </a:rPr>
              <a:t>)</a:t>
            </a:r>
            <a:r>
              <a:rPr sz="1300" b="0" i="0" dirty="0" err="1">
                <a:solidFill>
                  <a:srgbClr val="22261F"/>
                </a:solidFill>
                <a:latin typeface="맑은 고딕"/>
              </a:rPr>
              <a:t>만으로</a:t>
            </a:r>
            <a:r>
              <a:rPr sz="130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22261F"/>
                </a:solidFill>
                <a:latin typeface="맑은 고딕"/>
              </a:rPr>
              <a:t>서버</a:t>
            </a:r>
            <a:r>
              <a:rPr sz="130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300" b="0" i="0" dirty="0" err="1">
                <a:solidFill>
                  <a:srgbClr val="22261F"/>
                </a:solidFill>
                <a:latin typeface="맑은 고딕"/>
              </a:rPr>
              <a:t>없이</a:t>
            </a:r>
            <a:r>
              <a:rPr sz="130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300" b="0" i="0" dirty="0" err="1" smtClean="0">
                <a:solidFill>
                  <a:srgbClr val="22261F"/>
                </a:solidFill>
                <a:latin typeface="맑은 고딕"/>
              </a:rPr>
              <a:t>구현</a:t>
            </a:r>
            <a:r>
              <a:rPr lang="en-US" sz="1300" dirty="0">
                <a:solidFill>
                  <a:srgbClr val="22261F"/>
                </a:solidFill>
                <a:latin typeface="맑은 고딕"/>
              </a:rPr>
              <a:t>.</a:t>
            </a:r>
            <a:r>
              <a:rPr sz="1300" b="0" i="0" dirty="0" smtClean="0">
                <a:solidFill>
                  <a:srgbClr val="22261F"/>
                </a:solidFill>
                <a:latin typeface="맑은 고딕"/>
              </a:rPr>
              <a:t> </a:t>
            </a:r>
            <a:endParaRPr sz="1300" b="0" i="0" dirty="0">
              <a:solidFill>
                <a:srgbClr val="22261F"/>
              </a:solidFill>
              <a:latin typeface="맑은 고딕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9006840" y="1828800"/>
            <a:ext cx="2514600" cy="3931920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08008" y="1975104"/>
            <a:ext cx="211226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C97A2B"/>
                </a:solidFill>
                <a:latin typeface="맑은 고딕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08008" y="2249424"/>
            <a:ext cx="211226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F4D3A"/>
                </a:solidFill>
                <a:latin typeface="맑은 고딕"/>
              </a:rPr>
              <a:t>과제 적합성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08008" y="2615184"/>
            <a:ext cx="2112264" cy="3008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2261F"/>
                </a:solidFill>
                <a:latin typeface="맑은 고딕"/>
              </a:rPr>
              <a:t>AX 탐험대 취지에 맞게, 코드 대부분을 AI(Claude Code)와 함께 작성하고 실제 배포·검증까지 진행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1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6E56"/>
                </a:solidFill>
                <a:latin typeface="맑은 고딕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5320" y="814503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4D3A"/>
                </a:solidFill>
                <a:latin typeface="맑은 고딕"/>
              </a:rPr>
              <a:t>시스템 구성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508760"/>
            <a:ext cx="10881360" cy="0"/>
          </a:xfrm>
          <a:prstGeom prst="line">
            <a:avLst/>
          </a:prstGeom>
          <a:ln w="12700">
            <a:solidFill>
              <a:srgbClr val="D8D0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920240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rIns="76200" rtlCol="0" anchor="ctr"/>
          <a:lstStyle/>
          <a:p>
            <a:pPr algn="ctr"/>
            <a:r>
              <a:rPr sz="1300" b="1">
                <a:solidFill>
                  <a:srgbClr val="1F4D3A"/>
                </a:solidFill>
                <a:latin typeface="맑은 고딕"/>
              </a:rPr>
              <a:t>기사 앱
(index.html)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1920240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rIns="76200" rtlCol="0" anchor="ctr"/>
          <a:lstStyle/>
          <a:p>
            <a:pPr algn="ctr"/>
            <a:r>
              <a:rPr sz="1300" b="1">
                <a:solidFill>
                  <a:srgbClr val="1F4D3A"/>
                </a:solidFill>
                <a:latin typeface="맑은 고딕"/>
              </a:rPr>
              <a:t>관리자 앱
(admin.html)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2087224"/>
            <a:ext cx="3566160" cy="640077"/>
          </a:xfrm>
          <a:prstGeom prst="roundRect">
            <a:avLst>
              <a:gd name="adj" fmla="val 12000"/>
            </a:avLst>
          </a:prstGeom>
          <a:solidFill>
            <a:srgbClr val="1F4D3A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rIns="76200" rtlCol="0" anchor="ctr"/>
          <a:lstStyle/>
          <a:p>
            <a:pPr algn="ctr"/>
            <a:r>
              <a:rPr sz="1500" b="1">
                <a:solidFill>
                  <a:srgbClr val="FBFAF6"/>
                </a:solidFill>
                <a:latin typeface="맑은 고딕"/>
              </a:rPr>
              <a:t>Firestore
(실시간 데이터베이스)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053303"/>
            <a:ext cx="1554480" cy="640077"/>
          </a:xfrm>
          <a:prstGeom prst="roundRect">
            <a:avLst>
              <a:gd name="adj" fmla="val 12000"/>
            </a:avLst>
          </a:prstGeom>
          <a:solidFill>
            <a:srgbClr val="E7E1D0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rIns="76200" rtlCol="0" anchor="ctr"/>
          <a:lstStyle/>
          <a:p>
            <a:pPr algn="ctr"/>
            <a:r>
              <a:rPr sz="1200" b="1" dirty="0">
                <a:solidFill>
                  <a:srgbClr val="22261F"/>
                </a:solidFill>
                <a:latin typeface="맑은 고딕"/>
              </a:rPr>
              <a:t>Apps Script
(5분 </a:t>
            </a:r>
            <a:r>
              <a:rPr sz="1200" b="1" dirty="0" err="1">
                <a:solidFill>
                  <a:srgbClr val="22261F"/>
                </a:solidFill>
                <a:latin typeface="맑은 고딕"/>
              </a:rPr>
              <a:t>주기</a:t>
            </a:r>
            <a:r>
              <a:rPr sz="1200" b="1" dirty="0">
                <a:solidFill>
                  <a:srgbClr val="22261F"/>
                </a:solidFill>
                <a:latin typeface="맑은 고딕"/>
              </a:rPr>
              <a:t>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3070192"/>
            <a:ext cx="1554480" cy="640077"/>
          </a:xfrm>
          <a:prstGeom prst="roundRect">
            <a:avLst>
              <a:gd name="adj" fmla="val 12000"/>
            </a:avLst>
          </a:prstGeom>
          <a:solidFill>
            <a:srgbClr val="E7E1D0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rIns="76200" rtlCol="0" anchor="ctr"/>
          <a:lstStyle/>
          <a:p>
            <a:pPr algn="ctr"/>
            <a:r>
              <a:rPr sz="1200" b="1">
                <a:solidFill>
                  <a:srgbClr val="22261F"/>
                </a:solidFill>
                <a:latin typeface="맑은 고딕"/>
              </a:rPr>
              <a:t>Google
스프레드시트</a:t>
            </a:r>
          </a:p>
        </p:txBody>
      </p:sp>
      <p:cxnSp>
        <p:nvCxnSpPr>
          <p:cNvPr id="11" name="Connector 10"/>
          <p:cNvCxnSpPr>
            <a:cxnSpLocks/>
            <a:stCxn id="6" idx="3"/>
            <a:endCxn id="8" idx="1"/>
          </p:cNvCxnSpPr>
          <p:nvPr/>
        </p:nvCxnSpPr>
        <p:spPr>
          <a:xfrm>
            <a:off x="3474720" y="2148840"/>
            <a:ext cx="822960" cy="258423"/>
          </a:xfrm>
          <a:prstGeom prst="bentConnector3">
            <a:avLst>
              <a:gd name="adj1" fmla="val 50000"/>
            </a:avLst>
          </a:prstGeom>
          <a:ln w="25400">
            <a:solidFill>
              <a:srgbClr val="3C6E5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cxnSpLocks/>
            <a:stCxn id="7" idx="1"/>
            <a:endCxn id="8" idx="3"/>
          </p:cNvCxnSpPr>
          <p:nvPr/>
        </p:nvCxnSpPr>
        <p:spPr>
          <a:xfrm rot="10800000" flipV="1">
            <a:off x="7863840" y="2148839"/>
            <a:ext cx="822960" cy="258423"/>
          </a:xfrm>
          <a:prstGeom prst="bentConnector3">
            <a:avLst>
              <a:gd name="adj1" fmla="val 50000"/>
            </a:avLst>
          </a:prstGeom>
          <a:ln w="25400">
            <a:solidFill>
              <a:srgbClr val="3C6E5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cxnSpLocks/>
            <a:stCxn id="9" idx="0"/>
            <a:endCxn id="8" idx="2"/>
          </p:cNvCxnSpPr>
          <p:nvPr/>
        </p:nvCxnSpPr>
        <p:spPr>
          <a:xfrm rot="5400000" flipH="1" flipV="1">
            <a:off x="5414839" y="2387382"/>
            <a:ext cx="326002" cy="1005840"/>
          </a:xfrm>
          <a:prstGeom prst="bentConnector3">
            <a:avLst>
              <a:gd name="adj1" fmla="val 50000"/>
            </a:avLst>
          </a:prstGeom>
          <a:ln w="25400">
            <a:solidFill>
              <a:srgbClr val="3C6E56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0080" y="5889928"/>
            <a:ext cx="10881360" cy="224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1" dirty="0" err="1">
                <a:solidFill>
                  <a:srgbClr val="8A8672"/>
                </a:solidFill>
                <a:latin typeface="맑은 고딕"/>
              </a:rPr>
              <a:t>별도</a:t>
            </a:r>
            <a:r>
              <a:rPr sz="1400" b="1" i="1" dirty="0">
                <a:solidFill>
                  <a:srgbClr val="8A8672"/>
                </a:solidFill>
                <a:latin typeface="맑은 고딕"/>
              </a:rPr>
              <a:t> </a:t>
            </a:r>
            <a:r>
              <a:rPr sz="1400" b="1" i="1" dirty="0" err="1">
                <a:solidFill>
                  <a:srgbClr val="8A8672"/>
                </a:solidFill>
                <a:latin typeface="맑은 고딕"/>
              </a:rPr>
              <a:t>서버</a:t>
            </a:r>
            <a:r>
              <a:rPr sz="1400" b="1" i="1" dirty="0">
                <a:solidFill>
                  <a:srgbClr val="8A8672"/>
                </a:solidFill>
                <a:latin typeface="맑은 고딕"/>
              </a:rPr>
              <a:t> </a:t>
            </a:r>
            <a:r>
              <a:rPr sz="1400" b="1" i="1" dirty="0" err="1">
                <a:solidFill>
                  <a:srgbClr val="8A8672"/>
                </a:solidFill>
                <a:latin typeface="맑은 고딕"/>
              </a:rPr>
              <a:t>없이</a:t>
            </a:r>
            <a:r>
              <a:rPr sz="1400" b="1" i="1" dirty="0">
                <a:solidFill>
                  <a:srgbClr val="8A8672"/>
                </a:solidFill>
                <a:latin typeface="맑은 고딕"/>
              </a:rPr>
              <a:t> </a:t>
            </a:r>
            <a:r>
              <a:rPr sz="1400" b="1" i="1" dirty="0" err="1">
                <a:solidFill>
                  <a:srgbClr val="8A8672"/>
                </a:solidFill>
                <a:latin typeface="맑은 고딕"/>
              </a:rPr>
              <a:t>Firestore</a:t>
            </a:r>
            <a:r>
              <a:rPr sz="1400" b="1" i="1" dirty="0">
                <a:solidFill>
                  <a:srgbClr val="8A8672"/>
                </a:solidFill>
                <a:latin typeface="맑은 고딕"/>
              </a:rPr>
              <a:t>(</a:t>
            </a:r>
            <a:r>
              <a:rPr sz="1400" b="1" i="1" dirty="0" err="1">
                <a:solidFill>
                  <a:srgbClr val="8A8672"/>
                </a:solidFill>
                <a:latin typeface="맑은 고딕"/>
              </a:rPr>
              <a:t>실시간</a:t>
            </a:r>
            <a:r>
              <a:rPr sz="1400" b="1" i="1" dirty="0">
                <a:solidFill>
                  <a:srgbClr val="8A8672"/>
                </a:solidFill>
                <a:latin typeface="맑은 고딕"/>
              </a:rPr>
              <a:t> </a:t>
            </a:r>
            <a:r>
              <a:rPr sz="1400" b="1" i="1" dirty="0" err="1">
                <a:solidFill>
                  <a:srgbClr val="8A8672"/>
                </a:solidFill>
                <a:latin typeface="맑은 고딕"/>
              </a:rPr>
              <a:t>동기화</a:t>
            </a:r>
            <a:r>
              <a:rPr sz="1400" b="1" i="1" dirty="0">
                <a:solidFill>
                  <a:srgbClr val="8A8672"/>
                </a:solidFill>
                <a:latin typeface="맑은 고딕"/>
              </a:rPr>
              <a:t>) + Apps Script(</a:t>
            </a:r>
            <a:r>
              <a:rPr sz="1400" b="1" i="1" dirty="0" err="1">
                <a:solidFill>
                  <a:srgbClr val="8A8672"/>
                </a:solidFill>
                <a:latin typeface="맑은 고딕"/>
              </a:rPr>
              <a:t>자동</a:t>
            </a:r>
            <a:r>
              <a:rPr sz="1400" b="1" i="1" dirty="0">
                <a:solidFill>
                  <a:srgbClr val="8A8672"/>
                </a:solidFill>
                <a:latin typeface="맑은 고딕"/>
              </a:rPr>
              <a:t> </a:t>
            </a:r>
            <a:r>
              <a:rPr sz="1400" b="1" i="1" dirty="0" err="1">
                <a:solidFill>
                  <a:srgbClr val="8A8672"/>
                </a:solidFill>
                <a:latin typeface="맑은 고딕"/>
              </a:rPr>
              <a:t>백업</a:t>
            </a:r>
            <a:r>
              <a:rPr sz="1400" b="1" i="1" dirty="0">
                <a:solidFill>
                  <a:srgbClr val="8A8672"/>
                </a:solidFill>
                <a:latin typeface="맑은 고딕"/>
              </a:rPr>
              <a:t>)</a:t>
            </a:r>
            <a:r>
              <a:rPr sz="1400" b="1" i="1" dirty="0" err="1">
                <a:solidFill>
                  <a:srgbClr val="8A8672"/>
                </a:solidFill>
                <a:latin typeface="맑은 고딕"/>
              </a:rPr>
              <a:t>만으로</a:t>
            </a:r>
            <a:r>
              <a:rPr sz="1400" b="1" i="1" dirty="0">
                <a:solidFill>
                  <a:srgbClr val="8A8672"/>
                </a:solidFill>
                <a:latin typeface="맑은 고딕"/>
              </a:rPr>
              <a:t> </a:t>
            </a:r>
            <a:r>
              <a:rPr sz="1400" b="1" i="1" dirty="0" err="1">
                <a:solidFill>
                  <a:srgbClr val="8A8672"/>
                </a:solidFill>
                <a:latin typeface="맑은 고딕"/>
              </a:rPr>
              <a:t>구성된</a:t>
            </a:r>
            <a:r>
              <a:rPr sz="1400" b="1" i="1" dirty="0">
                <a:solidFill>
                  <a:srgbClr val="8A8672"/>
                </a:solidFill>
                <a:latin typeface="맑은 고딕"/>
              </a:rPr>
              <a:t> </a:t>
            </a:r>
            <a:r>
              <a:rPr sz="1400" b="1" i="1" dirty="0" err="1">
                <a:solidFill>
                  <a:srgbClr val="8A8672"/>
                </a:solidFill>
                <a:latin typeface="맑은 고딕"/>
              </a:rPr>
              <a:t>완전</a:t>
            </a:r>
            <a:r>
              <a:rPr sz="1400" b="1" i="1" dirty="0">
                <a:solidFill>
                  <a:srgbClr val="8A8672"/>
                </a:solidFill>
                <a:latin typeface="맑은 고딕"/>
              </a:rPr>
              <a:t> </a:t>
            </a:r>
            <a:r>
              <a:rPr sz="1400" b="1" i="1" dirty="0" err="1">
                <a:solidFill>
                  <a:srgbClr val="8A8672"/>
                </a:solidFill>
                <a:latin typeface="맑은 고딕"/>
              </a:rPr>
              <a:t>서버리스</a:t>
            </a:r>
            <a:r>
              <a:rPr sz="1400" b="1" i="1" dirty="0">
                <a:solidFill>
                  <a:srgbClr val="8A8672"/>
                </a:solidFill>
                <a:latin typeface="맑은 고딕"/>
              </a:rPr>
              <a:t> </a:t>
            </a:r>
            <a:r>
              <a:rPr sz="1400" b="1" i="1" dirty="0" err="1">
                <a:solidFill>
                  <a:srgbClr val="8A8672"/>
                </a:solidFill>
                <a:latin typeface="맑은 고딕"/>
              </a:rPr>
              <a:t>구조</a:t>
            </a:r>
            <a:endParaRPr sz="1400" b="1" i="1" dirty="0">
              <a:solidFill>
                <a:srgbClr val="8A8672"/>
              </a:solidFill>
              <a:latin typeface="맑은 고딕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운송 기록 입력 시스템 · AX 탐험대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73952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3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32AF2495-DA72-1092-8E96-16C25CFF76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514600"/>
            <a:ext cx="2971800" cy="2971800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8E45E80-D9B5-2DCE-55A0-819CF9F9A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0867" y="2514600"/>
            <a:ext cx="2831993" cy="2971800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429745A7-61FC-EDAF-F43F-731BE5BA46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834011"/>
            <a:ext cx="3576517" cy="1652389"/>
          </a:xfrm>
          <a:prstGeom prst="rect">
            <a:avLst/>
          </a:prstGeom>
        </p:spPr>
      </p:pic>
      <p:cxnSp>
        <p:nvCxnSpPr>
          <p:cNvPr id="37" name="Connector 13">
            <a:extLst>
              <a:ext uri="{FF2B5EF4-FFF2-40B4-BE49-F238E27FC236}">
                <a16:creationId xmlns:a16="http://schemas.microsoft.com/office/drawing/2014/main" id="{CA56CDB5-9E93-6596-5912-8A067B78A842}"/>
              </a:ext>
            </a:extLst>
          </p:cNvPr>
          <p:cNvCxnSpPr>
            <a:cxnSpLocks/>
            <a:stCxn id="10" idx="0"/>
            <a:endCxn id="8" idx="2"/>
          </p:cNvCxnSpPr>
          <p:nvPr/>
        </p:nvCxnSpPr>
        <p:spPr>
          <a:xfrm rot="16200000" flipV="1">
            <a:off x="6412235" y="2395827"/>
            <a:ext cx="342891" cy="1005840"/>
          </a:xfrm>
          <a:prstGeom prst="bentConnector3">
            <a:avLst>
              <a:gd name="adj1" fmla="val 50000"/>
            </a:avLst>
          </a:prstGeom>
          <a:ln w="25400">
            <a:solidFill>
              <a:srgbClr val="3C6E56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1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6E56"/>
                </a:solidFill>
                <a:latin typeface="맑은 고딕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4D3A"/>
                </a:solidFill>
                <a:latin typeface="맑은 고딕"/>
              </a:rPr>
              <a:t>주요 기능 — 기사 앱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508760"/>
            <a:ext cx="10881360" cy="0"/>
          </a:xfrm>
          <a:prstGeom prst="line">
            <a:avLst/>
          </a:prstGeom>
          <a:ln w="12700">
            <a:solidFill>
              <a:srgbClr val="D8D0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운송 기록 입력 시스템 · AX 탐험대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" y="1737360"/>
            <a:ext cx="2279904" cy="4306824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10512"/>
            <a:ext cx="213360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2648" y="6099048"/>
            <a:ext cx="227990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8A8672"/>
                </a:solidFill>
                <a:latin typeface="맑은 고딕"/>
              </a:rPr>
              <a:t>기사 앱 실행 화면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2472" y="1810512"/>
            <a:ext cx="4898967" cy="749808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61700" y="1901952"/>
            <a:ext cx="4658572" cy="247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4D3A"/>
                </a:solidFill>
                <a:latin typeface="맑은 고딕"/>
              </a:rPr>
              <a:t>2단계 등록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1700" y="2194560"/>
            <a:ext cx="4658572" cy="2035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 dirty="0" err="1" smtClean="0">
                <a:solidFill>
                  <a:srgbClr val="22261F"/>
                </a:solidFill>
                <a:latin typeface="맑은 고딕"/>
              </a:rPr>
              <a:t>권역</a:t>
            </a:r>
            <a:r>
              <a:rPr lang="en-US" sz="1150" b="0" i="0" dirty="0" smtClean="0">
                <a:solidFill>
                  <a:srgbClr val="22261F"/>
                </a:solidFill>
                <a:latin typeface="맑은 고딕"/>
              </a:rPr>
              <a:t>/</a:t>
            </a:r>
            <a:r>
              <a:rPr sz="1150" b="0" i="0" dirty="0" err="1" smtClean="0">
                <a:solidFill>
                  <a:srgbClr val="22261F"/>
                </a:solidFill>
                <a:latin typeface="맑은 고딕"/>
              </a:rPr>
              <a:t>지점</a:t>
            </a:r>
            <a:r>
              <a:rPr sz="1150" b="0" i="0" dirty="0" smtClean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다중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선택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→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확인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화면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→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운송시작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일괄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등록</a:t>
            </a:r>
            <a:endParaRPr sz="1150" b="0" i="0" dirty="0">
              <a:solidFill>
                <a:srgbClr val="22261F"/>
              </a:solidFill>
              <a:latin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622472" y="2670048"/>
            <a:ext cx="4898967" cy="749808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61700" y="2761488"/>
            <a:ext cx="4658572" cy="247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4D3A"/>
                </a:solidFill>
                <a:latin typeface="맑은 고딕"/>
              </a:rPr>
              <a:t>중복 등록 방지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1700" y="3054096"/>
            <a:ext cx="4658572" cy="2035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2261F"/>
                </a:solidFill>
                <a:latin typeface="맑은 고딕"/>
              </a:rPr>
              <a:t>오늘 이미 등록된 지점은 선택 화면에서 자동 비활성화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22472" y="3529584"/>
            <a:ext cx="4898967" cy="749808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61700" y="3621024"/>
            <a:ext cx="4658572" cy="247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4D3A"/>
                </a:solidFill>
                <a:latin typeface="맑은 고딕"/>
              </a:rPr>
              <a:t>운송완료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1700" y="3913632"/>
            <a:ext cx="4658572" cy="2035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2261F"/>
                </a:solidFill>
                <a:latin typeface="맑은 고딕"/>
              </a:rPr>
              <a:t>확인창을 거쳐 처리, 완료 즉시 목록에서 사라짐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2472" y="4389120"/>
            <a:ext cx="4898967" cy="749808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61700" y="4480560"/>
            <a:ext cx="4658572" cy="247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4D3A"/>
                </a:solidFill>
                <a:latin typeface="맑은 고딕"/>
              </a:rPr>
              <a:t>지방 일괄 운송완료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1700" y="4773168"/>
            <a:ext cx="4658572" cy="2035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2261F"/>
                </a:solidFill>
                <a:latin typeface="맑은 고딕"/>
              </a:rPr>
              <a:t>진행중 지방 지점이 2개 이상이면 한 번에 완료 처리</a:t>
            </a:r>
          </a:p>
        </p:txBody>
      </p:sp>
      <p:sp>
        <p:nvSpPr>
          <p:cNvPr id="27" name="Rounded Rectangle 8"/>
          <p:cNvSpPr/>
          <p:nvPr/>
        </p:nvSpPr>
        <p:spPr>
          <a:xfrm>
            <a:off x="3334327" y="1714872"/>
            <a:ext cx="2402194" cy="4306824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5517" y="1811369"/>
            <a:ext cx="2274824" cy="308766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6E56"/>
                </a:solidFill>
                <a:latin typeface="맑은 고딕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4D3A"/>
                </a:solidFill>
                <a:latin typeface="맑은 고딕"/>
              </a:rPr>
              <a:t>주요 기능 — 관리자 앱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508760"/>
            <a:ext cx="10881360" cy="0"/>
          </a:xfrm>
          <a:prstGeom prst="line">
            <a:avLst/>
          </a:prstGeom>
          <a:ln w="12700">
            <a:solidFill>
              <a:srgbClr val="D8D0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운송 기록 입력 시스템 · AX 탐험대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" y="1737360"/>
            <a:ext cx="4255459" cy="4306824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10512"/>
            <a:ext cx="4109156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2648" y="6099048"/>
            <a:ext cx="42554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 dirty="0" err="1">
                <a:solidFill>
                  <a:srgbClr val="8A8672"/>
                </a:solidFill>
                <a:latin typeface="맑은 고딕"/>
              </a:rPr>
              <a:t>관리자</a:t>
            </a:r>
            <a:r>
              <a:rPr sz="1200" b="0" i="0" dirty="0">
                <a:solidFill>
                  <a:srgbClr val="8A8672"/>
                </a:solidFill>
                <a:latin typeface="맑은 고딕"/>
              </a:rPr>
              <a:t> 앱 </a:t>
            </a:r>
            <a:r>
              <a:rPr sz="1200" b="0" i="0" dirty="0" err="1">
                <a:solidFill>
                  <a:srgbClr val="8A8672"/>
                </a:solidFill>
                <a:latin typeface="맑은 고딕"/>
              </a:rPr>
              <a:t>실행</a:t>
            </a:r>
            <a:r>
              <a:rPr sz="1200" b="0" i="0" dirty="0">
                <a:solidFill>
                  <a:srgbClr val="8A8672"/>
                </a:solidFill>
                <a:latin typeface="맑은 고딕"/>
              </a:rPr>
              <a:t> </a:t>
            </a:r>
            <a:r>
              <a:rPr sz="1200" b="0" i="0" dirty="0" err="1">
                <a:solidFill>
                  <a:srgbClr val="8A8672"/>
                </a:solidFill>
                <a:latin typeface="맑은 고딕"/>
              </a:rPr>
              <a:t>화면</a:t>
            </a:r>
            <a:endParaRPr sz="1200" b="0" i="0" dirty="0">
              <a:solidFill>
                <a:srgbClr val="8A8672"/>
              </a:solidFill>
              <a:latin typeface="맑은 고딕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297875" y="1810512"/>
            <a:ext cx="6223565" cy="932688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99043" y="1929384"/>
            <a:ext cx="582122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4D3A"/>
                </a:solidFill>
                <a:latin typeface="맑은 고딕"/>
              </a:rPr>
              <a:t>실시간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99043" y="2267712"/>
            <a:ext cx="582122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61F"/>
                </a:solidFill>
                <a:latin typeface="맑은 고딕"/>
              </a:rPr>
              <a:t>36개 지점을 대기/운송중/완료 3색으로 실시간 표시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97875" y="2880360"/>
            <a:ext cx="6223565" cy="932688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99043" y="2999232"/>
            <a:ext cx="582122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4D3A"/>
                </a:solidFill>
                <a:latin typeface="맑은 고딕"/>
              </a:rPr>
              <a:t>지연 판정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99043" y="3337560"/>
            <a:ext cx="582122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61F"/>
                </a:solidFill>
                <a:latin typeface="맑은 고딕"/>
              </a:rPr>
              <a:t>평균 대비 경과시간 15분 이상 초과 시 '지연' 배지 표시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97875" y="3950208"/>
            <a:ext cx="6223565" cy="932688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99043" y="4069080"/>
            <a:ext cx="582122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4D3A"/>
                </a:solidFill>
                <a:latin typeface="맑은 고딕"/>
              </a:rPr>
              <a:t>소요시간 통계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99043" y="4407408"/>
            <a:ext cx="582122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61F"/>
                </a:solidFill>
                <a:latin typeface="맑은 고딕"/>
              </a:rPr>
              <a:t>최근 30일 중 조회일 선택, 월평균 대비 증감 비교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97875" y="5020056"/>
            <a:ext cx="6223565" cy="932688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99043" y="5138928"/>
            <a:ext cx="5821229" cy="2410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500" b="1" i="0" dirty="0" smtClean="0">
                <a:solidFill>
                  <a:srgbClr val="1F4D3A"/>
                </a:solidFill>
                <a:latin typeface="맑은 고딕"/>
              </a:rPr>
              <a:t>보안 강화</a:t>
            </a:r>
            <a:endParaRPr sz="1500" b="1" i="0" dirty="0">
              <a:solidFill>
                <a:srgbClr val="1F4D3A"/>
              </a:solidFill>
              <a:latin typeface="맑은 고딕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499043" y="5477256"/>
            <a:ext cx="582122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61F"/>
                </a:solidFill>
                <a:latin typeface="맑은 고딕"/>
              </a:rPr>
              <a:t>이메일/비밀번호 로그인 필요, 로그인 계정만 전체 기간 조회 가능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6E56"/>
                </a:solidFill>
                <a:latin typeface="맑은 고딕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4D3A"/>
                </a:solidFill>
                <a:latin typeface="맑은 고딕"/>
              </a:rPr>
              <a:t>개발 과정에서의 특이사항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508760"/>
            <a:ext cx="10881360" cy="0"/>
          </a:xfrm>
          <a:prstGeom prst="line">
            <a:avLst/>
          </a:prstGeom>
          <a:ln w="12700">
            <a:solidFill>
              <a:srgbClr val="D8D0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운송 기록 입력 시스템 · AX 탐험대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3447288" cy="1874519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1975104"/>
            <a:ext cx="30449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4D3A"/>
                </a:solidFill>
                <a:latin typeface="맑은 고딕"/>
              </a:rPr>
              <a:t>배포 후에만 드러난 보안 규칙 버그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40864"/>
            <a:ext cx="3044952" cy="10409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Firestore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규칙은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컴파일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성공과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실제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동작이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다를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수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있음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endParaRPr lang="en-US" sz="1150" b="0" i="0" dirty="0" smtClean="0">
              <a:solidFill>
                <a:srgbClr val="22261F"/>
              </a:solidFill>
              <a:latin typeface="맑은 고딕"/>
            </a:endParaRPr>
          </a:p>
          <a:p>
            <a:pPr algn="l">
              <a:lnSpc>
                <a:spcPct val="120000"/>
              </a:lnSpc>
            </a:pPr>
            <a:endParaRPr lang="en-US" sz="1150" dirty="0">
              <a:solidFill>
                <a:srgbClr val="22261F"/>
              </a:solidFill>
              <a:latin typeface="맑은 고딕"/>
            </a:endParaRPr>
          </a:p>
          <a:p>
            <a:pPr algn="l">
              <a:lnSpc>
                <a:spcPct val="120000"/>
              </a:lnSpc>
            </a:pPr>
            <a:r>
              <a:rPr sz="1150" b="0" i="0" dirty="0" smtClean="0">
                <a:solidFill>
                  <a:srgbClr val="22261F"/>
                </a:solidFill>
                <a:latin typeface="맑은 고딕"/>
              </a:rPr>
              <a:t>—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존재하지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않는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인증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클레임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비교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, UTC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전용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날짜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함수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등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라이브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테스트에서만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발견</a:t>
            </a:r>
            <a:endParaRPr sz="1150" b="0" i="0" dirty="0">
              <a:solidFill>
                <a:srgbClr val="22261F"/>
              </a:solidFill>
              <a:latin typeface="맑은 고딕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361688" y="1828800"/>
            <a:ext cx="3447288" cy="1874519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62856" y="1975104"/>
            <a:ext cx="30449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4D3A"/>
                </a:solidFill>
                <a:latin typeface="맑은 고딕"/>
              </a:rPr>
              <a:t>동시 사용 시나리오 반영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2856" y="2340864"/>
            <a:ext cx="3044952" cy="1225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2261F"/>
                </a:solidFill>
                <a:latin typeface="맑은 고딕"/>
              </a:rPr>
              <a:t>여러 기사가 동시에 앱을 쓰는 조건을 반영해 지점 선택 화면에 중복 등록 방지 로직 추가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1828800"/>
            <a:ext cx="3447288" cy="1874519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84464" y="1975104"/>
            <a:ext cx="30449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4D3A"/>
                </a:solidFill>
                <a:latin typeface="맑은 고딕"/>
              </a:rPr>
              <a:t>현장 물류 특성 반영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340864"/>
            <a:ext cx="3044952" cy="1225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2261F"/>
                </a:solidFill>
                <a:latin typeface="맑은 고딕"/>
              </a:rPr>
              <a:t>지방 지점은 '중간 허브 도착' 기준임을 확인하고, 일괄 등록·일괄 완료 기능으로 구현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96312" y="3886199"/>
            <a:ext cx="3447288" cy="1874519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697480" y="4032503"/>
            <a:ext cx="30449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4D3A"/>
                </a:solidFill>
                <a:latin typeface="맑은 고딕"/>
              </a:rPr>
              <a:t>운영 정책 조정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4398263"/>
            <a:ext cx="3044952" cy="10409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완료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취소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(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초기화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)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기능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대신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완료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시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확인창을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강화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endParaRPr lang="en-US" sz="1150" b="0" i="0" dirty="0" smtClean="0">
              <a:solidFill>
                <a:srgbClr val="22261F"/>
              </a:solidFill>
              <a:latin typeface="맑은 고딕"/>
            </a:endParaRPr>
          </a:p>
          <a:p>
            <a:pPr algn="l">
              <a:lnSpc>
                <a:spcPct val="120000"/>
              </a:lnSpc>
            </a:pPr>
            <a:endParaRPr lang="en-US" sz="1150" dirty="0">
              <a:solidFill>
                <a:srgbClr val="22261F"/>
              </a:solidFill>
              <a:latin typeface="맑은 고딕"/>
            </a:endParaRPr>
          </a:p>
          <a:p>
            <a:pPr algn="l">
              <a:lnSpc>
                <a:spcPct val="120000"/>
              </a:lnSpc>
            </a:pPr>
            <a:r>
              <a:rPr sz="1150" b="0" i="0" dirty="0" smtClean="0">
                <a:solidFill>
                  <a:srgbClr val="22261F"/>
                </a:solidFill>
                <a:latin typeface="맑은 고딕"/>
              </a:rPr>
              <a:t>—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신뢰성과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편의성의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트레이드오프를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논의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후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결정</a:t>
            </a:r>
            <a:endParaRPr sz="1150" b="0" i="0" dirty="0">
              <a:solidFill>
                <a:srgbClr val="22261F"/>
              </a:solidFill>
              <a:latin typeface="맑은 고딕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217920" y="3886199"/>
            <a:ext cx="3447288" cy="1874519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19088" y="4032503"/>
            <a:ext cx="30449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4D3A"/>
                </a:solidFill>
                <a:latin typeface="맑은 고딕"/>
              </a:rPr>
              <a:t>실서비스에 안전한 개발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4398263"/>
            <a:ext cx="3044952" cy="8494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테스트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 smtClean="0">
                <a:solidFill>
                  <a:srgbClr val="22261F"/>
                </a:solidFill>
                <a:latin typeface="맑은 고딕"/>
              </a:rPr>
              <a:t>모드</a:t>
            </a:r>
            <a:endParaRPr lang="en-US" sz="1150" b="0" i="0" dirty="0" smtClean="0">
              <a:solidFill>
                <a:srgbClr val="22261F"/>
              </a:solidFill>
              <a:latin typeface="맑은 고딕"/>
            </a:endParaRPr>
          </a:p>
          <a:p>
            <a:pPr algn="l">
              <a:lnSpc>
                <a:spcPct val="120000"/>
              </a:lnSpc>
            </a:pPr>
            <a:r>
              <a:rPr sz="1150" b="0" i="0" dirty="0" err="1" smtClean="0">
                <a:solidFill>
                  <a:srgbClr val="22261F"/>
                </a:solidFill>
                <a:latin typeface="맑은 고딕"/>
              </a:rPr>
              <a:t>격리된</a:t>
            </a:r>
            <a:r>
              <a:rPr sz="1150" b="0" i="0" dirty="0" smtClean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테스트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 smtClean="0">
                <a:solidFill>
                  <a:srgbClr val="22261F"/>
                </a:solidFill>
                <a:latin typeface="맑은 고딕"/>
              </a:rPr>
              <a:t>데이터</a:t>
            </a:r>
            <a:endParaRPr lang="en-US" sz="1150" b="0" i="0" dirty="0" smtClean="0">
              <a:solidFill>
                <a:srgbClr val="22261F"/>
              </a:solidFill>
              <a:latin typeface="맑은 고딕"/>
            </a:endParaRPr>
          </a:p>
          <a:p>
            <a:pPr algn="l">
              <a:lnSpc>
                <a:spcPct val="120000"/>
              </a:lnSpc>
            </a:pPr>
            <a:r>
              <a:rPr sz="1150" b="0" i="0" dirty="0" err="1" smtClean="0">
                <a:solidFill>
                  <a:srgbClr val="22261F"/>
                </a:solidFill>
                <a:latin typeface="맑은 고딕"/>
              </a:rPr>
              <a:t>자동</a:t>
            </a:r>
            <a:r>
              <a:rPr sz="1150" b="0" i="0" dirty="0" smtClean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정리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절차로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,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라이브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데이터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위험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없이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기능을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 smtClean="0">
                <a:solidFill>
                  <a:srgbClr val="22261F"/>
                </a:solidFill>
                <a:latin typeface="맑은 고딕"/>
              </a:rPr>
              <a:t>검증</a:t>
            </a:r>
            <a:r>
              <a:rPr lang="en-US" sz="1150" b="0" i="0" dirty="0" smtClean="0">
                <a:solidFill>
                  <a:srgbClr val="22261F"/>
                </a:solidFill>
                <a:latin typeface="맑은 고딕"/>
              </a:rPr>
              <a:t>.</a:t>
            </a:r>
            <a:endParaRPr sz="1150" b="0" i="0" dirty="0">
              <a:solidFill>
                <a:srgbClr val="22261F"/>
              </a:solidFill>
              <a:latin typeface="맑은 고딕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6E56"/>
                </a:solidFill>
                <a:latin typeface="맑은 고딕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4D3A"/>
                </a:solidFill>
                <a:latin typeface="맑은 고딕"/>
              </a:rPr>
              <a:t>현재 상태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508760"/>
            <a:ext cx="10881360" cy="0"/>
          </a:xfrm>
          <a:prstGeom prst="line">
            <a:avLst/>
          </a:prstGeom>
          <a:ln w="12700">
            <a:solidFill>
              <a:srgbClr val="D8D0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92240" y="1874519"/>
            <a:ext cx="5029200" cy="393192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rIns="7620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운송 기록 입력 시스템 · AX 탐험대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2029968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6E56"/>
                </a:solidFill>
                <a:latin typeface="맑은 고딕"/>
              </a:rPr>
              <a:t>배포 URL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39572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8672"/>
                </a:solidFill>
                <a:latin typeface="맑은 고딕"/>
              </a:rPr>
              <a:t>기사 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651760"/>
            <a:ext cx="4572000" cy="2089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300" b="0" i="0" dirty="0" smtClean="0">
                <a:solidFill>
                  <a:srgbClr val="22261F"/>
                </a:solidFill>
                <a:latin typeface="맑은 고딕"/>
              </a:rPr>
              <a:t>.</a:t>
            </a:r>
            <a:r>
              <a:rPr lang="en-US" sz="1300" dirty="0">
                <a:solidFill>
                  <a:srgbClr val="22261F"/>
                </a:solidFill>
                <a:latin typeface="맑은 고딕"/>
              </a:rPr>
              <a:t> https://delivery-tracker-9b6d7.web.app/driver</a:t>
            </a:r>
            <a:endParaRPr sz="1300" b="0" i="0" dirty="0">
              <a:solidFill>
                <a:srgbClr val="22261F"/>
              </a:solidFill>
              <a:latin typeface="맑은 고딕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766560" y="299923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8672"/>
                </a:solidFill>
                <a:latin typeface="맑은 고딕"/>
              </a:rPr>
              <a:t>관리자 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255264"/>
            <a:ext cx="4572000" cy="2089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300" b="0" i="0" dirty="0" smtClean="0">
                <a:solidFill>
                  <a:srgbClr val="22261F"/>
                </a:solidFill>
                <a:latin typeface="맑은 고딕"/>
              </a:rPr>
              <a:t>.</a:t>
            </a:r>
            <a:r>
              <a:rPr lang="en-US" sz="1300" dirty="0">
                <a:solidFill>
                  <a:srgbClr val="22261F"/>
                </a:solidFill>
                <a:latin typeface="맑은 고딕"/>
              </a:rPr>
              <a:t> https://delivery-tracker-9b6d7.web.app/admin</a:t>
            </a:r>
            <a:endParaRPr sz="1300" b="0" i="0" dirty="0">
              <a:solidFill>
                <a:srgbClr val="22261F"/>
              </a:solidFill>
              <a:latin typeface="맑은 고딕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766560" y="360273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8672"/>
                </a:solidFill>
                <a:latin typeface="맑은 고딕"/>
              </a:rPr>
              <a:t>구글 스프레드시트 (자동 백업)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858768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2261F"/>
                </a:solidFill>
                <a:latin typeface="맑은 고딕"/>
              </a:rPr>
              <a:t>.../spreadsheets/d/1wUtlIpiU9e…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4279392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6E56"/>
                </a:solidFill>
                <a:latin typeface="맑은 고딕"/>
              </a:rPr>
              <a:t>적용범위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4626864"/>
            <a:ext cx="4572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2261F"/>
                </a:solidFill>
                <a:latin typeface="맑은 고딕"/>
              </a:rPr>
              <a:t>배송망 36개 지점 (수도권 24 · 지방 12)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2261F"/>
                </a:solidFill>
                <a:latin typeface="맑은 고딕"/>
              </a:rPr>
              <a:t>운송기사 전원 + 관리자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1828800"/>
            <a:ext cx="54864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50" b="1">
                <a:solidFill>
                  <a:srgbClr val="1F4D3A"/>
                </a:solidFill>
                <a:latin typeface="맑은 고딕"/>
              </a:rPr>
              <a:t>●  배포 완료</a:t>
            </a:r>
            <a:r>
              <a:rPr sz="1550">
                <a:solidFill>
                  <a:srgbClr val="22261F"/>
                </a:solidFill>
                <a:latin typeface="맑은 고딕"/>
              </a:rPr>
              <a:t>  —  Firebase Hosting에 실제 배포, 기사·관리자 앱 모두 라이브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50" b="1">
                <a:solidFill>
                  <a:srgbClr val="1F4D3A"/>
                </a:solidFill>
                <a:latin typeface="맑은 고딕"/>
              </a:rPr>
              <a:t>●  보안 규칙 배포·검증</a:t>
            </a:r>
            <a:r>
              <a:rPr sz="1550">
                <a:solidFill>
                  <a:srgbClr val="22261F"/>
                </a:solidFill>
                <a:latin typeface="맑은 고딕"/>
              </a:rPr>
              <a:t>  —  실제 계정으로 end-to-end 테스트 완료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50" b="1">
                <a:solidFill>
                  <a:srgbClr val="1F4D3A"/>
                </a:solidFill>
                <a:latin typeface="맑은 고딕"/>
              </a:rPr>
              <a:t>●  자동 백업 검증</a:t>
            </a:r>
            <a:r>
              <a:rPr sz="1550">
                <a:solidFill>
                  <a:srgbClr val="22261F"/>
                </a:solidFill>
                <a:latin typeface="맑은 고딕"/>
              </a:rPr>
              <a:t>  —  5분 주기 스프레드시트 반영 실데이터로 확인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50" b="1">
                <a:solidFill>
                  <a:srgbClr val="1F4D3A"/>
                </a:solidFill>
                <a:latin typeface="맑은 고딕"/>
              </a:rPr>
              <a:t>●  형상관리</a:t>
            </a:r>
            <a:r>
              <a:rPr sz="1550">
                <a:solidFill>
                  <a:srgbClr val="22261F"/>
                </a:solidFill>
                <a:latin typeface="맑은 고딕"/>
              </a:rPr>
              <a:t>  —  GitHub 저장소 연동, 여러 컴퓨터에서 이어서 작업 가능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6E56"/>
                </a:solidFill>
                <a:latin typeface="맑은 고딕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4D3A"/>
                </a:solidFill>
                <a:latin typeface="맑은 고딕"/>
              </a:rPr>
              <a:t>향후 확산 가능성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508760"/>
            <a:ext cx="10881360" cy="0"/>
          </a:xfrm>
          <a:prstGeom prst="line">
            <a:avLst/>
          </a:prstGeom>
          <a:ln w="12700">
            <a:solidFill>
              <a:srgbClr val="D8D0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운송 기록 입력 시스템 · AX 탐험대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3447288" cy="2271677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1975104"/>
            <a:ext cx="3044952" cy="224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400" b="1" dirty="0" smtClean="0">
                <a:solidFill>
                  <a:srgbClr val="1F4D3A"/>
                </a:solidFill>
                <a:latin typeface="맑은 고딕"/>
              </a:rPr>
              <a:t>내부 시스템과의 연계</a:t>
            </a:r>
            <a:endParaRPr sz="1400" b="1" i="0" dirty="0">
              <a:solidFill>
                <a:srgbClr val="1F4D3A"/>
              </a:solidFill>
              <a:latin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41248" y="2340864"/>
            <a:ext cx="3044952" cy="10618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150" b="0" i="0" dirty="0" smtClean="0">
                <a:solidFill>
                  <a:srgbClr val="22261F"/>
                </a:solidFill>
                <a:latin typeface="맑은 고딕"/>
              </a:rPr>
              <a:t>WMS </a:t>
            </a:r>
            <a:r>
              <a:rPr lang="ko-KR" altLang="en-US" sz="1150" b="0" i="0" dirty="0" smtClean="0">
                <a:solidFill>
                  <a:srgbClr val="22261F"/>
                </a:solidFill>
                <a:latin typeface="맑은 고딕"/>
              </a:rPr>
              <a:t>연계 가능성</a:t>
            </a:r>
            <a:endParaRPr lang="en-US" altLang="ko-KR" sz="1150" b="0" i="0" dirty="0" smtClean="0">
              <a:solidFill>
                <a:srgbClr val="22261F"/>
              </a:solidFill>
              <a:latin typeface="맑은 고딕"/>
            </a:endParaRPr>
          </a:p>
          <a:p>
            <a:pPr marL="171450" indent="-171450" algn="l">
              <a:lnSpc>
                <a:spcPct val="120000"/>
              </a:lnSpc>
              <a:buFontTx/>
              <a:buChar char="-"/>
            </a:pPr>
            <a:r>
              <a:rPr lang="ko-KR" altLang="en-US" sz="1150" dirty="0" smtClean="0">
                <a:solidFill>
                  <a:srgbClr val="22261F"/>
                </a:solidFill>
                <a:latin typeface="맑은 고딕"/>
              </a:rPr>
              <a:t>기존 시스템에 추가 가능성 </a:t>
            </a:r>
            <a:r>
              <a:rPr lang="en-US" altLang="ko-KR" sz="1150" dirty="0" smtClean="0">
                <a:solidFill>
                  <a:srgbClr val="22261F"/>
                </a:solidFill>
                <a:latin typeface="맑은 고딕"/>
              </a:rPr>
              <a:t>?</a:t>
            </a:r>
            <a:endParaRPr lang="en-US" altLang="ko-KR" sz="1150" b="0" i="0" dirty="0" smtClean="0">
              <a:solidFill>
                <a:srgbClr val="22261F"/>
              </a:solidFill>
              <a:latin typeface="맑은 고딕"/>
            </a:endParaRPr>
          </a:p>
          <a:p>
            <a:pPr algn="l">
              <a:lnSpc>
                <a:spcPct val="120000"/>
              </a:lnSpc>
            </a:pPr>
            <a:endParaRPr lang="en-US" sz="1150" dirty="0">
              <a:solidFill>
                <a:srgbClr val="22261F"/>
              </a:solidFill>
              <a:latin typeface="맑은 고딕"/>
            </a:endParaRPr>
          </a:p>
          <a:p>
            <a:pPr algn="l">
              <a:lnSpc>
                <a:spcPct val="120000"/>
              </a:lnSpc>
            </a:pPr>
            <a:r>
              <a:rPr lang="ko-KR" altLang="en-US" sz="1150" b="0" i="0" dirty="0" err="1" smtClean="0">
                <a:solidFill>
                  <a:srgbClr val="22261F"/>
                </a:solidFill>
                <a:latin typeface="맑은 고딕"/>
              </a:rPr>
              <a:t>위탁운송</a:t>
            </a:r>
            <a:r>
              <a:rPr lang="ko-KR" altLang="en-US" sz="1150" dirty="0" err="1" smtClean="0">
                <a:solidFill>
                  <a:srgbClr val="22261F"/>
                </a:solidFill>
                <a:latin typeface="맑은 고딕"/>
              </a:rPr>
              <a:t>의</a:t>
            </a:r>
            <a:r>
              <a:rPr lang="ko-KR" altLang="en-US" sz="1150" dirty="0" smtClean="0">
                <a:solidFill>
                  <a:srgbClr val="22261F"/>
                </a:solidFill>
                <a:latin typeface="맑은 고딕"/>
              </a:rPr>
              <a:t> 한계</a:t>
            </a:r>
            <a:r>
              <a:rPr lang="en-US" altLang="ko-KR" sz="1150" dirty="0" smtClean="0">
                <a:solidFill>
                  <a:srgbClr val="22261F"/>
                </a:solidFill>
                <a:latin typeface="맑은 고딕"/>
              </a:rPr>
              <a:t>, </a:t>
            </a:r>
            <a:r>
              <a:rPr lang="ko-KR" altLang="en-US" sz="1150" dirty="0" smtClean="0">
                <a:solidFill>
                  <a:srgbClr val="22261F"/>
                </a:solidFill>
                <a:latin typeface="맑은 고딕"/>
              </a:rPr>
              <a:t>사용환경</a:t>
            </a:r>
            <a:r>
              <a:rPr lang="en-US" altLang="ko-KR" sz="1150" dirty="0" smtClean="0">
                <a:solidFill>
                  <a:srgbClr val="22261F"/>
                </a:solidFill>
                <a:latin typeface="맑은 고딕"/>
              </a:rPr>
              <a:t>, </a:t>
            </a:r>
            <a:r>
              <a:rPr lang="ko-KR" altLang="en-US" sz="1150" dirty="0" smtClean="0">
                <a:solidFill>
                  <a:srgbClr val="22261F"/>
                </a:solidFill>
                <a:latin typeface="맑은 고딕"/>
              </a:rPr>
              <a:t>차량용 </a:t>
            </a:r>
            <a:r>
              <a:rPr lang="en-US" altLang="ko-KR" sz="1150" dirty="0" smtClean="0">
                <a:solidFill>
                  <a:srgbClr val="22261F"/>
                </a:solidFill>
                <a:latin typeface="맑은 고딕"/>
              </a:rPr>
              <a:t>GPS </a:t>
            </a:r>
            <a:r>
              <a:rPr lang="ko-KR" altLang="en-US" sz="1150" dirty="0" smtClean="0">
                <a:solidFill>
                  <a:srgbClr val="22261F"/>
                </a:solidFill>
                <a:latin typeface="맑은 고딕"/>
              </a:rPr>
              <a:t>외</a:t>
            </a:r>
            <a:endParaRPr lang="en-US" altLang="ko-KR" sz="1150" dirty="0">
              <a:solidFill>
                <a:srgbClr val="22261F"/>
              </a:solidFill>
              <a:latin typeface="맑은 고딕"/>
            </a:endParaRPr>
          </a:p>
          <a:p>
            <a:pPr algn="l">
              <a:lnSpc>
                <a:spcPct val="120000"/>
              </a:lnSpc>
            </a:pPr>
            <a:endParaRPr lang="en-US" altLang="ko-KR" sz="1150" dirty="0" smtClean="0">
              <a:solidFill>
                <a:srgbClr val="22261F"/>
              </a:solidFill>
              <a:latin typeface="맑은 고딕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361688" y="1828800"/>
            <a:ext cx="3447288" cy="2271677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62856" y="1975104"/>
            <a:ext cx="30449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4D3A"/>
                </a:solidFill>
                <a:latin typeface="맑은 고딕"/>
              </a:rPr>
              <a:t>서버리스 패턴의 재사용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2856" y="2340864"/>
            <a:ext cx="3044952" cy="14865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서버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구축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없이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Firebase + Apps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Script로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구현하는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방식은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endParaRPr lang="en-US" sz="1150" b="0" i="0" dirty="0" smtClean="0">
              <a:solidFill>
                <a:srgbClr val="22261F"/>
              </a:solidFill>
              <a:latin typeface="맑은 고딕"/>
            </a:endParaRPr>
          </a:p>
          <a:p>
            <a:pPr algn="l">
              <a:lnSpc>
                <a:spcPct val="120000"/>
              </a:lnSpc>
            </a:pPr>
            <a:endParaRPr lang="en-US" sz="1150" dirty="0">
              <a:solidFill>
                <a:srgbClr val="22261F"/>
              </a:solidFill>
              <a:latin typeface="맑은 고딕"/>
            </a:endParaRPr>
          </a:p>
          <a:p>
            <a:pPr algn="l">
              <a:lnSpc>
                <a:spcPct val="120000"/>
              </a:lnSpc>
            </a:pPr>
            <a:r>
              <a:rPr sz="1150" b="0" i="0" dirty="0" err="1" smtClean="0">
                <a:solidFill>
                  <a:srgbClr val="22261F"/>
                </a:solidFill>
                <a:latin typeface="맑은 고딕"/>
              </a:rPr>
              <a:t>소규모</a:t>
            </a:r>
            <a:r>
              <a:rPr sz="1150" b="0" i="0" dirty="0" smtClean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팀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업무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자동화에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낮은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비용으로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재사용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 smtClean="0">
                <a:solidFill>
                  <a:srgbClr val="22261F"/>
                </a:solidFill>
                <a:latin typeface="맑은 고딕"/>
              </a:rPr>
              <a:t>가능</a:t>
            </a:r>
            <a:endParaRPr lang="en-US" sz="1150" b="0" i="0" dirty="0" smtClean="0">
              <a:solidFill>
                <a:srgbClr val="22261F"/>
              </a:solidFill>
              <a:latin typeface="맑은 고딕"/>
            </a:endParaRPr>
          </a:p>
          <a:p>
            <a:pPr algn="l">
              <a:lnSpc>
                <a:spcPct val="120000"/>
              </a:lnSpc>
            </a:pPr>
            <a:r>
              <a:rPr lang="en-US" sz="1150" dirty="0" smtClean="0">
                <a:solidFill>
                  <a:srgbClr val="22261F"/>
                </a:solidFill>
                <a:latin typeface="맑은 고딕"/>
              </a:rPr>
              <a:t>Ex) </a:t>
            </a:r>
            <a:r>
              <a:rPr lang="ko-KR" altLang="en-US" sz="1150" dirty="0" smtClean="0">
                <a:solidFill>
                  <a:srgbClr val="22261F"/>
                </a:solidFill>
                <a:latin typeface="맑은 고딕"/>
              </a:rPr>
              <a:t>간략하게 기록하고</a:t>
            </a:r>
            <a:r>
              <a:rPr lang="en-US" altLang="ko-KR" sz="1150" dirty="0" smtClean="0">
                <a:solidFill>
                  <a:srgbClr val="22261F"/>
                </a:solidFill>
                <a:latin typeface="맑은 고딕"/>
              </a:rPr>
              <a:t>, </a:t>
            </a:r>
            <a:r>
              <a:rPr lang="ko-KR" altLang="en-US" sz="1150" dirty="0" smtClean="0">
                <a:solidFill>
                  <a:srgbClr val="22261F"/>
                </a:solidFill>
                <a:latin typeface="맑은 고딕"/>
              </a:rPr>
              <a:t>저장하는 형태의 </a:t>
            </a:r>
            <a:r>
              <a:rPr lang="en-US" altLang="ko-KR" sz="1150" dirty="0" smtClean="0">
                <a:solidFill>
                  <a:srgbClr val="22261F"/>
                </a:solidFill>
                <a:latin typeface="맑은 고딕"/>
              </a:rPr>
              <a:t>DATA</a:t>
            </a:r>
            <a:r>
              <a:rPr lang="ko-KR" altLang="en-US" sz="1150" dirty="0" smtClean="0">
                <a:solidFill>
                  <a:srgbClr val="22261F"/>
                </a:solidFill>
                <a:latin typeface="맑은 고딕"/>
              </a:rPr>
              <a:t>에 적용 가능</a:t>
            </a:r>
            <a:endParaRPr lang="en-US" sz="1150" dirty="0">
              <a:solidFill>
                <a:srgbClr val="22261F"/>
              </a:solidFill>
              <a:latin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083296" y="1828800"/>
            <a:ext cx="3447288" cy="2271677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6046942"/>
            <a:ext cx="10881360" cy="224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1400" b="1" i="1" dirty="0" smtClean="0">
                <a:solidFill>
                  <a:srgbClr val="8A8672"/>
                </a:solidFill>
                <a:latin typeface="맑은 고딕"/>
              </a:rPr>
              <a:t>SLA</a:t>
            </a:r>
            <a:r>
              <a:rPr lang="ko-KR" altLang="en-US" sz="1400" b="1" i="1" dirty="0" smtClean="0">
                <a:solidFill>
                  <a:srgbClr val="8A8672"/>
                </a:solidFill>
                <a:latin typeface="맑은 고딕"/>
              </a:rPr>
              <a:t>는 </a:t>
            </a:r>
            <a:r>
              <a:rPr lang="en-US" altLang="ko-KR" sz="1400" b="1" i="1" dirty="0" smtClean="0">
                <a:solidFill>
                  <a:srgbClr val="8A8672"/>
                </a:solidFill>
                <a:latin typeface="맑은 고딕"/>
              </a:rPr>
              <a:t>service Level Agreement(</a:t>
            </a:r>
            <a:r>
              <a:rPr lang="ko-KR" altLang="en-US" sz="1400" b="1" i="1" dirty="0" smtClean="0">
                <a:solidFill>
                  <a:srgbClr val="8A8672"/>
                </a:solidFill>
                <a:latin typeface="맑은 고딕"/>
              </a:rPr>
              <a:t>서비스 </a:t>
            </a:r>
            <a:r>
              <a:rPr lang="ko-KR" altLang="en-US" sz="1400" b="1" i="1" dirty="0" err="1" smtClean="0">
                <a:solidFill>
                  <a:srgbClr val="8A8672"/>
                </a:solidFill>
                <a:latin typeface="맑은 고딕"/>
              </a:rPr>
              <a:t>수준협약</a:t>
            </a:r>
            <a:r>
              <a:rPr lang="en-US" altLang="ko-KR" sz="1400" b="1" i="1" dirty="0" smtClean="0">
                <a:solidFill>
                  <a:srgbClr val="8A8672"/>
                </a:solidFill>
                <a:latin typeface="맑은 고딕"/>
              </a:rPr>
              <a:t>)</a:t>
            </a:r>
            <a:r>
              <a:rPr lang="ko-KR" altLang="en-US" sz="1400" b="1" i="1" dirty="0" smtClean="0">
                <a:solidFill>
                  <a:srgbClr val="8A8672"/>
                </a:solidFill>
                <a:latin typeface="맑은 고딕"/>
              </a:rPr>
              <a:t>의 약자</a:t>
            </a:r>
            <a:r>
              <a:rPr lang="en-US" altLang="ko-KR" sz="1400" b="1" i="1" dirty="0" smtClean="0">
                <a:solidFill>
                  <a:srgbClr val="8A8672"/>
                </a:solidFill>
                <a:latin typeface="맑은 고딕"/>
              </a:rPr>
              <a:t>. “</a:t>
            </a:r>
            <a:r>
              <a:rPr lang="ko-KR" altLang="en-US" sz="1400" b="1" i="1" dirty="0" smtClean="0">
                <a:solidFill>
                  <a:srgbClr val="8A8672"/>
                </a:solidFill>
                <a:latin typeface="맑은 고딕"/>
              </a:rPr>
              <a:t>이 작업은 몇 분</a:t>
            </a:r>
            <a:r>
              <a:rPr lang="en-US" altLang="ko-KR" sz="1400" b="1" i="1" dirty="0" smtClean="0">
                <a:solidFill>
                  <a:srgbClr val="8A8672"/>
                </a:solidFill>
                <a:latin typeface="맑은 고딕"/>
              </a:rPr>
              <a:t>/</a:t>
            </a:r>
            <a:r>
              <a:rPr lang="ko-KR" altLang="en-US" sz="1400" b="1" i="1" dirty="0" smtClean="0">
                <a:solidFill>
                  <a:srgbClr val="8A8672"/>
                </a:solidFill>
                <a:latin typeface="맑은 고딕"/>
              </a:rPr>
              <a:t>시간 안에 처리되어야 한다</a:t>
            </a:r>
            <a:r>
              <a:rPr lang="en-US" altLang="ko-KR" sz="1400" b="1" i="1" dirty="0" smtClean="0">
                <a:solidFill>
                  <a:srgbClr val="8A8672"/>
                </a:solidFill>
                <a:latin typeface="맑은 고딕"/>
              </a:rPr>
              <a:t>＂</a:t>
            </a:r>
            <a:r>
              <a:rPr lang="ko-KR" altLang="en-US" sz="1400" b="1" i="1" dirty="0" smtClean="0">
                <a:solidFill>
                  <a:srgbClr val="8A8672"/>
                </a:solidFill>
                <a:latin typeface="맑은 고딕"/>
              </a:rPr>
              <a:t>는 </a:t>
            </a:r>
            <a:r>
              <a:rPr lang="ko-KR" altLang="en-US" sz="1400" b="1" i="1" dirty="0" err="1" smtClean="0">
                <a:solidFill>
                  <a:srgbClr val="8A8672"/>
                </a:solidFill>
                <a:latin typeface="맑은 고딕"/>
              </a:rPr>
              <a:t>상호약속된</a:t>
            </a:r>
            <a:r>
              <a:rPr lang="ko-KR" altLang="en-US" sz="1400" b="1" i="1" dirty="0" smtClean="0">
                <a:solidFill>
                  <a:srgbClr val="8A8672"/>
                </a:solidFill>
                <a:latin typeface="맑은 고딕"/>
              </a:rPr>
              <a:t> 처리 기준시간</a:t>
            </a:r>
            <a:r>
              <a:rPr lang="en-US" altLang="ko-KR" sz="1400" b="1" i="1" dirty="0" smtClean="0">
                <a:solidFill>
                  <a:srgbClr val="8A8672"/>
                </a:solidFill>
                <a:latin typeface="맑은 고딕"/>
              </a:rPr>
              <a:t>.</a:t>
            </a:r>
            <a:endParaRPr sz="1400" b="1" i="1" dirty="0">
              <a:solidFill>
                <a:srgbClr val="8A8672"/>
              </a:solidFill>
              <a:latin typeface="맑은 고딕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284464" y="1975104"/>
            <a:ext cx="30449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 dirty="0" err="1">
                <a:solidFill>
                  <a:srgbClr val="1F4D3A"/>
                </a:solidFill>
                <a:latin typeface="맑은 고딕"/>
              </a:rPr>
              <a:t>지연</a:t>
            </a:r>
            <a:r>
              <a:rPr sz="1400" b="1" i="0" dirty="0">
                <a:solidFill>
                  <a:srgbClr val="1F4D3A"/>
                </a:solidFill>
                <a:latin typeface="맑은 고딕"/>
              </a:rPr>
              <a:t> </a:t>
            </a:r>
            <a:r>
              <a:rPr sz="1400" b="1" i="0" dirty="0" err="1">
                <a:solidFill>
                  <a:srgbClr val="1F4D3A"/>
                </a:solidFill>
                <a:latin typeface="맑은 고딕"/>
              </a:rPr>
              <a:t>판정</a:t>
            </a:r>
            <a:r>
              <a:rPr sz="1400" b="1" i="0" dirty="0">
                <a:solidFill>
                  <a:srgbClr val="1F4D3A"/>
                </a:solidFill>
                <a:latin typeface="맑은 고딕"/>
              </a:rPr>
              <a:t> </a:t>
            </a:r>
            <a:r>
              <a:rPr sz="1400" b="1" i="0" dirty="0" err="1">
                <a:solidFill>
                  <a:srgbClr val="1F4D3A"/>
                </a:solidFill>
                <a:latin typeface="맑은 고딕"/>
              </a:rPr>
              <a:t>로직의</a:t>
            </a:r>
            <a:r>
              <a:rPr sz="1400" b="1" i="0" dirty="0">
                <a:solidFill>
                  <a:srgbClr val="1F4D3A"/>
                </a:solidFill>
                <a:latin typeface="맑은 고딕"/>
              </a:rPr>
              <a:t> </a:t>
            </a:r>
            <a:r>
              <a:rPr sz="1400" b="1" i="0" dirty="0" err="1">
                <a:solidFill>
                  <a:srgbClr val="1F4D3A"/>
                </a:solidFill>
                <a:latin typeface="맑은 고딕"/>
              </a:rPr>
              <a:t>응용</a:t>
            </a:r>
            <a:endParaRPr sz="1400" b="1" i="0" dirty="0">
              <a:solidFill>
                <a:srgbClr val="1F4D3A"/>
              </a:solidFill>
              <a:latin typeface="맑은 고딕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271638" y="2352404"/>
            <a:ext cx="3044952" cy="828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평균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대비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경과시간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초과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감지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 smtClean="0">
                <a:solidFill>
                  <a:srgbClr val="22261F"/>
                </a:solidFill>
                <a:latin typeface="맑은 고딕"/>
              </a:rPr>
              <a:t>방식</a:t>
            </a:r>
            <a:endParaRPr lang="en-US" sz="1150" b="0" i="0" dirty="0" smtClean="0">
              <a:solidFill>
                <a:srgbClr val="22261F"/>
              </a:solidFill>
              <a:latin typeface="맑은 고딕"/>
            </a:endParaRPr>
          </a:p>
          <a:p>
            <a:pPr algn="l">
              <a:lnSpc>
                <a:spcPct val="120000"/>
              </a:lnSpc>
            </a:pPr>
            <a:endParaRPr lang="en-US" sz="1150" dirty="0">
              <a:solidFill>
                <a:srgbClr val="22261F"/>
              </a:solidFill>
              <a:latin typeface="맑은 고딕"/>
            </a:endParaRPr>
          </a:p>
          <a:p>
            <a:pPr algn="l">
              <a:lnSpc>
                <a:spcPct val="120000"/>
              </a:lnSpc>
            </a:pPr>
            <a:r>
              <a:rPr sz="1150" b="0" i="0" dirty="0" smtClean="0">
                <a:solidFill>
                  <a:srgbClr val="22261F"/>
                </a:solidFill>
                <a:latin typeface="맑은 고딕"/>
              </a:rPr>
              <a:t>은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배송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외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SLA가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있는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다른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업무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모니터링에도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응용</a:t>
            </a:r>
            <a:r>
              <a:rPr sz="1150" b="0" i="0" dirty="0">
                <a:solidFill>
                  <a:srgbClr val="22261F"/>
                </a:solidFill>
                <a:latin typeface="맑은 고딕"/>
              </a:rPr>
              <a:t> </a:t>
            </a:r>
            <a:r>
              <a:rPr sz="1150" b="0" i="0" dirty="0" err="1">
                <a:solidFill>
                  <a:srgbClr val="22261F"/>
                </a:solidFill>
                <a:latin typeface="맑은 고딕"/>
              </a:rPr>
              <a:t>가능</a:t>
            </a:r>
            <a:endParaRPr sz="1150" b="0" i="0" dirty="0">
              <a:solidFill>
                <a:srgbClr val="22261F"/>
              </a:solidFill>
              <a:latin typeface="맑은 고딕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FAF6"/>
                </a:solidFill>
                <a:latin typeface="맑은 고딕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1EDE2"/>
                </a:solidFill>
                <a:latin typeface="맑은 고딕"/>
              </a:rPr>
              <a:t>운송 기록 입력 시스템 · AX 탐험대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402</TotalTime>
  <Words>670</Words>
  <Application>Microsoft Office PowerPoint</Application>
  <PresentationFormat>와이드스크린</PresentationFormat>
  <Paragraphs>127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/>
  <cp:keywords/>
  <dc:description>generated using python-pptx</dc:description>
  <cp:lastModifiedBy>user</cp:lastModifiedBy>
  <cp:revision>8</cp:revision>
  <dcterms:created xsi:type="dcterms:W3CDTF">2013-01-27T09:14:16Z</dcterms:created>
  <dcterms:modified xsi:type="dcterms:W3CDTF">2026-08-24T01:27:36Z</dcterms:modified>
  <cp:category/>
</cp:coreProperties>
</file>