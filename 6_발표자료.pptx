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8FE0B0"/>
                </a:solidFill>
                <a:latin typeface="맑은 고딕"/>
              </a:rPr>
              <a:t>AX 탐험대 · 유통운영팀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BFAF6"/>
                </a:solidFill>
                <a:latin typeface="맑은 고딕"/>
              </a:rPr>
              <a:t>운송기사 배송 입력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1EDE2"/>
                </a:solidFill>
                <a:latin typeface="맑은 고딕"/>
              </a:rPr>
              <a:t>서버 구축 없이 Firebase와 Google Apps Script만으로 구현한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1EDE2"/>
                </a:solidFill>
                <a:latin typeface="맑은 고딕"/>
              </a:rPr>
              <a:t>배송 트래킹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C6E56"/>
                </a:solidFill>
                <a:latin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482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F4D3A"/>
                </a:solidFill>
                <a:latin typeface="맑은 고딕"/>
              </a:rPr>
              <a:t>배경</a:t>
            </a:r>
            <a:endParaRPr sz="3000" b="1" i="0" dirty="0">
              <a:solidFill>
                <a:srgbClr val="1F4D3A"/>
              </a:solidFill>
              <a:latin typeface="맑은 고딕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3877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문제</a:t>
            </a:r>
            <a:r>
              <a:rPr sz="17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인식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 </a:t>
            </a:r>
            <a:endParaRPr lang="en-US"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dirty="0">
                <a:solidFill>
                  <a:srgbClr val="22261F"/>
                </a:solidFill>
                <a:latin typeface="맑은 고딕"/>
              </a:rPr>
              <a:t>— 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운송기사가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지점별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운송시작·운송완료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시각을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수기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/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구두로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관리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→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관리자가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실시간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현황을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파악하기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어렵고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데이터가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축적되지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않음</a:t>
            </a:r>
            <a:endParaRPr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제약</a:t>
            </a:r>
            <a:r>
              <a:rPr sz="17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조건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별도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서버를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새로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구축·운영할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인력·예산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없이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짧은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기간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안에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실제로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쓸 수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있는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도구가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필요했음</a:t>
            </a:r>
            <a:endParaRPr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선택한</a:t>
            </a:r>
            <a:r>
              <a:rPr sz="17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접근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 </a:t>
            </a:r>
            <a:endParaRPr lang="en-US"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dirty="0">
                <a:solidFill>
                  <a:srgbClr val="22261F"/>
                </a:solidFill>
                <a:latin typeface="맑은 고딕"/>
              </a:rPr>
              <a:t>—  Firebase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Firestore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(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실시간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DB)와 Google Apps Script(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자동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백업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)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만으로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서버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없이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구현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endParaRPr lang="en-US"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dirty="0">
                <a:solidFill>
                  <a:srgbClr val="22261F"/>
                </a:solidFill>
                <a:latin typeface="맑은 고딕"/>
              </a:rPr>
              <a:t>—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도입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비용과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유지보수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부담을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최소화</a:t>
            </a:r>
            <a:endParaRPr sz="17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과제</a:t>
            </a:r>
            <a:r>
              <a:rPr sz="17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1F4D3A"/>
                </a:solidFill>
                <a:latin typeface="맑은 고딕"/>
              </a:rPr>
              <a:t>적합성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 —  AX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탐험대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취지에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맞게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코드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대부분을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AI(Claude Code)와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함께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작성하고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실제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배포·검증까지</a:t>
            </a:r>
            <a:r>
              <a:rPr sz="17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700" dirty="0" err="1">
                <a:solidFill>
                  <a:srgbClr val="22261F"/>
                </a:solidFill>
                <a:latin typeface="맑은 고딕"/>
              </a:rPr>
              <a:t>진행</a:t>
            </a:r>
            <a:endParaRPr sz="1700" dirty="0">
              <a:solidFill>
                <a:srgbClr val="22261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814503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시스템 구성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024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1F4D3A"/>
                </a:solidFill>
                <a:latin typeface="맑은 고딕"/>
              </a:rPr>
              <a:t>기사 앱
(index.html)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92024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1F4D3A"/>
                </a:solidFill>
                <a:latin typeface="맑은 고딕"/>
              </a:rPr>
              <a:t>관리자 앱
(admin.html)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87224"/>
            <a:ext cx="3566160" cy="640077"/>
          </a:xfrm>
          <a:prstGeom prst="roundRect">
            <a:avLst>
              <a:gd name="adj" fmla="val 12000"/>
            </a:avLst>
          </a:prstGeom>
          <a:solidFill>
            <a:srgbClr val="1F4D3A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500" b="1">
                <a:solidFill>
                  <a:srgbClr val="FBFAF6"/>
                </a:solidFill>
                <a:latin typeface="맑은 고딕"/>
              </a:rPr>
              <a:t>Firestore
(실시간 데이터베이스)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053303"/>
            <a:ext cx="1554480" cy="640077"/>
          </a:xfrm>
          <a:prstGeom prst="roundRect">
            <a:avLst>
              <a:gd name="adj" fmla="val 12000"/>
            </a:avLst>
          </a:prstGeom>
          <a:solidFill>
            <a:srgbClr val="E7E1D0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dirty="0">
                <a:solidFill>
                  <a:srgbClr val="22261F"/>
                </a:solidFill>
                <a:latin typeface="맑은 고딕"/>
              </a:rPr>
              <a:t>Apps Script
(5분 </a:t>
            </a:r>
            <a:r>
              <a:rPr sz="1200" b="1" dirty="0" err="1">
                <a:solidFill>
                  <a:srgbClr val="22261F"/>
                </a:solidFill>
                <a:latin typeface="맑은 고딕"/>
              </a:rPr>
              <a:t>주기</a:t>
            </a:r>
            <a:r>
              <a:rPr sz="1200" b="1" dirty="0">
                <a:solidFill>
                  <a:srgbClr val="22261F"/>
                </a:solidFill>
                <a:latin typeface="맑은 고딕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070192"/>
            <a:ext cx="1554480" cy="640077"/>
          </a:xfrm>
          <a:prstGeom prst="roundRect">
            <a:avLst>
              <a:gd name="adj" fmla="val 12000"/>
            </a:avLst>
          </a:prstGeom>
          <a:solidFill>
            <a:srgbClr val="E7E1D0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22261F"/>
                </a:solidFill>
                <a:latin typeface="맑은 고딕"/>
              </a:rPr>
              <a:t>Google
스프레드시트</a:t>
            </a:r>
          </a:p>
        </p:txBody>
      </p:sp>
      <p:cxnSp>
        <p:nvCxnSpPr>
          <p:cNvPr id="11" name="Connector 10"/>
          <p:cNvCxnSpPr>
            <a:cxnSpLocks/>
            <a:stCxn id="6" idx="3"/>
            <a:endCxn id="8" idx="1"/>
          </p:cNvCxnSpPr>
          <p:nvPr/>
        </p:nvCxnSpPr>
        <p:spPr>
          <a:xfrm>
            <a:off x="3474720" y="2148840"/>
            <a:ext cx="822960" cy="258423"/>
          </a:xfrm>
          <a:prstGeom prst="bentConnector3">
            <a:avLst>
              <a:gd name="adj1" fmla="val 50000"/>
            </a:avLst>
          </a:prstGeom>
          <a:ln w="25400">
            <a:solidFill>
              <a:srgbClr val="3C6E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7863840" y="2148839"/>
            <a:ext cx="822960" cy="258423"/>
          </a:xfrm>
          <a:prstGeom prst="bentConnector3">
            <a:avLst>
              <a:gd name="adj1" fmla="val 50000"/>
            </a:avLst>
          </a:prstGeom>
          <a:ln w="25400">
            <a:solidFill>
              <a:srgbClr val="3C6E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9" idx="0"/>
            <a:endCxn id="8" idx="2"/>
          </p:cNvCxnSpPr>
          <p:nvPr/>
        </p:nvCxnSpPr>
        <p:spPr>
          <a:xfrm rot="5400000" flipH="1" flipV="1">
            <a:off x="5414839" y="2387382"/>
            <a:ext cx="326002" cy="1005840"/>
          </a:xfrm>
          <a:prstGeom prst="bentConnector3">
            <a:avLst>
              <a:gd name="adj1" fmla="val 50000"/>
            </a:avLst>
          </a:prstGeom>
          <a:ln w="25400">
            <a:solidFill>
              <a:srgbClr val="3C6E56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58899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별도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서버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없이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Firestore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(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실시간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동기화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) + Apps Script(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자동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백업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)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만으로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구성된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완전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서버리스</a:t>
            </a:r>
            <a:r>
              <a:rPr sz="1400" b="0" i="1" dirty="0">
                <a:solidFill>
                  <a:srgbClr val="8A8672"/>
                </a:solidFill>
                <a:latin typeface="맑은 고딕"/>
              </a:rPr>
              <a:t> </a:t>
            </a:r>
            <a:r>
              <a:rPr sz="1400" b="0" i="1" dirty="0" err="1">
                <a:solidFill>
                  <a:srgbClr val="8A8672"/>
                </a:solidFill>
                <a:latin typeface="맑은 고딕"/>
              </a:rPr>
              <a:t>구조</a:t>
            </a:r>
            <a:endParaRPr sz="1400" b="0" i="1" dirty="0">
              <a:solidFill>
                <a:srgbClr val="8A8672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3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2AF2495-DA72-1092-8E96-16C25CFF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14600"/>
            <a:ext cx="2971800" cy="29718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8E45E80-D9B5-2DCE-55A0-819CF9F9A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867" y="2514600"/>
            <a:ext cx="2831993" cy="29718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29745A7-61FC-EDAF-F43F-731BE5BA4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834011"/>
            <a:ext cx="3576517" cy="1652389"/>
          </a:xfrm>
          <a:prstGeom prst="rect">
            <a:avLst/>
          </a:prstGeom>
        </p:spPr>
      </p:pic>
      <p:cxnSp>
        <p:nvCxnSpPr>
          <p:cNvPr id="37" name="Connector 13">
            <a:extLst>
              <a:ext uri="{FF2B5EF4-FFF2-40B4-BE49-F238E27FC236}">
                <a16:creationId xmlns:a16="http://schemas.microsoft.com/office/drawing/2014/main" id="{CA56CDB5-9E93-6596-5912-8A067B78A842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16200000" flipV="1">
            <a:off x="6412235" y="2395827"/>
            <a:ext cx="342891" cy="1005840"/>
          </a:xfrm>
          <a:prstGeom prst="bentConnector3">
            <a:avLst>
              <a:gd name="adj1" fmla="val 50000"/>
            </a:avLst>
          </a:prstGeom>
          <a:ln w="25400">
            <a:solidFill>
              <a:srgbClr val="3C6E56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주요 기능 — 기사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8359727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F4D3A"/>
                </a:solidFill>
                <a:latin typeface="맑은 고딕"/>
              </a:rPr>
              <a:t>●  2단계 등록</a:t>
            </a:r>
            <a:r>
              <a:rPr sz="1600">
                <a:solidFill>
                  <a:srgbClr val="22261F"/>
                </a:solidFill>
                <a:latin typeface="맑은 고딕"/>
              </a:rPr>
              <a:t>  —  권역·지점 다중 선택 → 확인 화면 → 운송시작 일괄 등록 (동시 시작시각 기록)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F4D3A"/>
                </a:solidFill>
                <a:latin typeface="맑은 고딕"/>
              </a:rPr>
              <a:t>●  중복 등록 방지</a:t>
            </a:r>
            <a:r>
              <a:rPr sz="1600">
                <a:solidFill>
                  <a:srgbClr val="22261F"/>
                </a:solidFill>
                <a:latin typeface="맑은 고딕"/>
              </a:rPr>
              <a:t>  —  오늘 이미 등록된 지점은 선택 화면에서 자동 비활성화 — 여러 기사가 동시에 써도 안전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F4D3A"/>
                </a:solidFill>
                <a:latin typeface="맑은 고딕"/>
              </a:rPr>
              <a:t>●  운송완료</a:t>
            </a:r>
            <a:r>
              <a:rPr sz="1600">
                <a:solidFill>
                  <a:srgbClr val="22261F"/>
                </a:solidFill>
                <a:latin typeface="맑은 고딕"/>
              </a:rPr>
              <a:t>  —  확인창(되돌릴 수 없음 안내)을 거쳐 처리, 완료 즉시 목록에서 사라짐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F4D3A"/>
                </a:solidFill>
                <a:latin typeface="맑은 고딕"/>
              </a:rPr>
              <a:t>●  지방 일괄 운송완료</a:t>
            </a:r>
            <a:r>
              <a:rPr sz="1600">
                <a:solidFill>
                  <a:srgbClr val="22261F"/>
                </a:solidFill>
                <a:latin typeface="맑은 고딕"/>
              </a:rPr>
              <a:t>  —  트럭 한 대로 묶인 지방 지점들이 같은 허브에 동시 도착 → 진행중 2개 이상이면 한 번에 완료 처리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F4D3A"/>
                </a:solidFill>
                <a:latin typeface="맑은 고딕"/>
              </a:rPr>
              <a:t>●  테스트 모드 (?test=1)</a:t>
            </a:r>
            <a:r>
              <a:rPr sz="1600">
                <a:solidFill>
                  <a:srgbClr val="22261F"/>
                </a:solidFill>
                <a:latin typeface="맑은 고딕"/>
              </a:rPr>
              <a:t>  —  실제 데이터베이스에 영향 없이 샘플 데이터로 모든 기능을 안전하게 미리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56423" y="1773936"/>
            <a:ext cx="2219881" cy="4224528"/>
          </a:xfrm>
          <a:prstGeom prst="roundRect">
            <a:avLst>
              <a:gd name="adj" fmla="val 6000"/>
            </a:avLst>
          </a:prstGeom>
          <a:solidFill>
            <a:srgbClr val="E7E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river_ap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287" y="1828800"/>
            <a:ext cx="2110153" cy="4114800"/>
          </a:xfrm>
          <a:prstGeom prst="rect">
            <a:avLst/>
          </a:prstGeom>
          <a:ln w="9525">
            <a:solidFill>
              <a:srgbClr val="3C6E5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136967" y="6035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8A8672"/>
                </a:solidFill>
                <a:latin typeface="Malgun Gothic"/>
              </a:rPr>
              <a:t>기사 앱 실행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주요 기능 — 관리자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8725304" cy="1832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실시간</a:t>
            </a:r>
            <a:r>
              <a:rPr sz="16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대시보드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 —  36개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지점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(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수도권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24 ·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지방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12)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전체를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대기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/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운송중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/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완료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3색으로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실시간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표시</a:t>
            </a:r>
            <a:endParaRPr sz="16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지연</a:t>
            </a:r>
            <a:r>
              <a:rPr sz="16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판정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경과시간이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평균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대비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15분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이상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초과하면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'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지연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'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배지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자동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표시</a:t>
            </a:r>
            <a:endParaRPr sz="16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소요시간</a:t>
            </a:r>
            <a:r>
              <a:rPr sz="16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통계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최근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30일 중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조회일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선택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→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지점별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월평균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대비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증감을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색상으로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비교</a:t>
            </a:r>
            <a:endParaRPr sz="160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접근</a:t>
            </a:r>
            <a:r>
              <a:rPr sz="160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4D3A"/>
                </a:solidFill>
                <a:latin typeface="맑은 고딕"/>
              </a:rPr>
              <a:t>제한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이메일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/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비밀번호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로그인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필요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로그인된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계정만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전체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기간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데이터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조회</a:t>
            </a:r>
            <a:r>
              <a:rPr sz="160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22261F"/>
                </a:solidFill>
                <a:latin typeface="맑은 고딕"/>
              </a:rPr>
              <a:t>가능</a:t>
            </a:r>
            <a:endParaRPr sz="1600" dirty="0">
              <a:solidFill>
                <a:srgbClr val="22261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5</a:t>
            </a:r>
          </a:p>
        </p:txBody>
      </p:sp>
      <p:pic>
        <p:nvPicPr>
          <p:cNvPr id="9" name="Picture 8" descr="reg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864" y="1874519"/>
            <a:ext cx="1744576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39704" y="6035039"/>
            <a:ext cx="2018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8A8672"/>
                </a:solidFill>
                <a:latin typeface="Malgun Gothic"/>
              </a:rPr>
              <a:t>권역별 지점 분포 — 수도권 24 · 지방 12 (개념도)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개발 과정에서의 특이사항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77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배포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후에만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드러난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보안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규칙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버그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endParaRPr lang="en-US"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61F"/>
                </a:solidFill>
                <a:latin typeface="맑은 고딕"/>
              </a:rPr>
              <a:t>— 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Firestore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보안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규칙은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'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컴파일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성공'과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'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실제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동작'이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다를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수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있음을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확인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endParaRPr lang="en-US"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61F"/>
                </a:solidFill>
                <a:latin typeface="맑은 고딕"/>
              </a:rPr>
              <a:t>— ①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존재하지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않는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인증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클레임을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비교하면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규칙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전체가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조용히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거부되고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②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날짜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함수가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시간대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인자를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지원하지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않아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항상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UTC로만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계산됨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. 두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문제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모두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실제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라이브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환경에서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기사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계정으로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직접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테스트해서야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발견</a:t>
            </a:r>
            <a:endParaRPr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동시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사용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시나리오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반영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 </a:t>
            </a:r>
            <a:endParaRPr lang="en-US"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61F"/>
                </a:solidFill>
                <a:latin typeface="맑은 고딕"/>
              </a:rPr>
              <a:t>— 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여러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기사가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동시에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앱을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쓴다는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실제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현장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조건을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뒤늦게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반영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endParaRPr lang="en-US"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61F"/>
                </a:solidFill>
                <a:latin typeface="맑은 고딕"/>
              </a:rPr>
              <a:t>—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지점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선택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화면에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중복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등록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방지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로직을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추가</a:t>
            </a:r>
            <a:endParaRPr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현장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물류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특성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반영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지방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지점은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개별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도착이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아닌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'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중간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허브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도착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'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기준이라는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점을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확인하고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일괄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등록·일괄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완료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기능으로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구현</a:t>
            </a:r>
            <a:endParaRPr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운영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정책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조정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완료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취소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(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초기화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)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기능을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없애는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대신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,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완료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시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확인창을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강화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endParaRPr lang="en-US"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61F"/>
                </a:solidFill>
                <a:latin typeface="맑은 고딕"/>
              </a:rPr>
              <a:t>—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데이터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신뢰성과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조작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편의성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사이의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트레이드오프를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논의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후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결정</a:t>
            </a:r>
            <a:endParaRPr sz="1450" dirty="0">
              <a:solidFill>
                <a:srgbClr val="22261F"/>
              </a:solidFill>
              <a:latin typeface="맑은 고딕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1" dirty="0">
                <a:solidFill>
                  <a:srgbClr val="1F4D3A"/>
                </a:solidFill>
                <a:latin typeface="맑은 고딕"/>
              </a:rPr>
              <a:t>● 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실서비스에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안전한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개발</a:t>
            </a:r>
            <a:r>
              <a:rPr sz="1450" b="1" dirty="0">
                <a:solidFill>
                  <a:srgbClr val="1F4D3A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1F4D3A"/>
                </a:solidFill>
                <a:latin typeface="맑은 고딕"/>
              </a:rPr>
              <a:t>환경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 — 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라이브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데이터를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건드리지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않고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검증할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수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있도록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테스트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모드·격리된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테스트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데이터·자동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정리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절차를</a:t>
            </a:r>
            <a:r>
              <a:rPr sz="1450" dirty="0">
                <a:solidFill>
                  <a:srgbClr val="22261F"/>
                </a:solidFill>
                <a:latin typeface="맑은 고딕"/>
              </a:rPr>
              <a:t> </a:t>
            </a:r>
            <a:r>
              <a:rPr sz="1450" dirty="0" err="1">
                <a:solidFill>
                  <a:srgbClr val="22261F"/>
                </a:solidFill>
                <a:latin typeface="맑은 고딕"/>
              </a:rPr>
              <a:t>구축</a:t>
            </a:r>
            <a:endParaRPr sz="1450" dirty="0">
              <a:solidFill>
                <a:srgbClr val="22261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현재 상태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배포 완료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Firebase Hosting에 실제 배포, 기사·관리자 앱 모두 라이브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보안 규칙 배포·검증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실제 계정으로 end-to-end 테스트 완료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자동 백업 검증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5분 주기 스프레드시트 반영 실데이터로 확인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형상관리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GitHub 저장소 연동, 여러 컴퓨터에서 이어서 작업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74519"/>
            <a:ext cx="5029200" cy="393192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15875">
            <a:solidFill>
              <a:srgbClr val="D8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배포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14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672"/>
                </a:solidFill>
                <a:latin typeface="맑은 고딕"/>
              </a:rPr>
              <a:t>기사 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61F"/>
                </a:solidFill>
                <a:latin typeface="맑은 고딕"/>
              </a:rPr>
              <a:t>.../driver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672"/>
                </a:solidFill>
                <a:latin typeface="맑은 고딕"/>
              </a:rPr>
              <a:t>관리자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61F"/>
                </a:solidFill>
                <a:latin typeface="맑은 고딕"/>
              </a:rPr>
              <a:t>.../admin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97763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적용범위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434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61F"/>
                </a:solidFill>
                <a:latin typeface="맑은 고딕"/>
              </a:rPr>
              <a:t>배송망 36개 지점 (수도권 24 · 지방 12)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61F"/>
                </a:solidFill>
                <a:latin typeface="맑은 고딕"/>
              </a:rPr>
              <a:t>운송기사 전원 + 관리자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C6E56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4D3A"/>
                </a:solidFill>
                <a:latin typeface="맑은 고딕"/>
              </a:rPr>
              <a:t>향후 확산 가능성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881360" cy="0"/>
          </a:xfrm>
          <a:prstGeom prst="line">
            <a:avLst/>
          </a:prstGeom>
          <a:ln w="12700">
            <a:solidFill>
              <a:srgbClr val="D8D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다른 물류 프로세스로 확장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반품 처리, 재고 이동, 창고 간 이관 등 '지점별 상태 변화를 실시간으로 추적'해야 하는 업무 전반에 동일 구조 적용 가능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서버리스 패턴의 재사용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서버 구축 없이 Firebase + Apps Script로 구현하는 이 방식은 소규모 팀 단위 업무 자동화 과제에 낮은 비용으로 재사용 가능한 템플릿이 됨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자동 백업 구조의 이식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Firestore → 스프레드시트 자동 백업 스크립트는 다른 Firebase 기반 사내 도구에도 그대로 이식 가능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지연 판정 로직의 응용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평균 대비 경과시간 초과를 감지하는 방식은 배송 외에도 처리 SLA가 있는 다른 업무 모니터링에 응용 가능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50" b="1">
                <a:solidFill>
                  <a:srgbClr val="1F4D3A"/>
                </a:solidFill>
                <a:latin typeface="맑은 고딕"/>
              </a:rPr>
              <a:t>●  타 부서 확산</a:t>
            </a:r>
            <a:r>
              <a:rPr sz="1550">
                <a:solidFill>
                  <a:srgbClr val="22261F"/>
                </a:solidFill>
                <a:latin typeface="맑은 고딕"/>
              </a:rPr>
              <a:t>  —  관리자 페이지 접근 제한 강화, 인수확인 절차 등을 보완하면 타 물류 거점·타 부서로도 확산 검토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운송기사 배송 입력 시스템 · AX 탐험대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672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FAF6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1EDE2"/>
                </a:solidFill>
                <a:latin typeface="맑은 고딕"/>
              </a:rPr>
              <a:t>운송기사 배송 입력 시스템 · AX 탐험대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828</Words>
  <Application>Microsoft Office PowerPoint</Application>
  <PresentationFormat>와이드스크린</PresentationFormat>
  <Paragraphs>86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김건형(유통운영팀)</cp:lastModifiedBy>
  <cp:revision>3</cp:revision>
  <dcterms:created xsi:type="dcterms:W3CDTF">2013-01-27T09:14:16Z</dcterms:created>
  <dcterms:modified xsi:type="dcterms:W3CDTF">2026-08-23T13:25:21Z</dcterms:modified>
  <cp:category/>
</cp:coreProperties>
</file>